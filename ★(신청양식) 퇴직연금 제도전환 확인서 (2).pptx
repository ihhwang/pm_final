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6858000" cy="9906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1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87" userDrawn="1">
          <p15:clr>
            <a:srgbClr val="A4A3A4"/>
          </p15:clr>
        </p15:guide>
        <p15:guide id="4" pos="4133" userDrawn="1">
          <p15:clr>
            <a:srgbClr val="A4A3A4"/>
          </p15:clr>
        </p15:guide>
        <p15:guide id="5" orient="horz" pos="217" userDrawn="1">
          <p15:clr>
            <a:srgbClr val="A4A3A4"/>
          </p15:clr>
        </p15:guide>
        <p15:guide id="6" orient="horz" pos="6101" userDrawn="1">
          <p15:clr>
            <a:srgbClr val="A4A3A4"/>
          </p15:clr>
        </p15:guide>
        <p15:guide id="7" orient="horz" pos="4365" userDrawn="1">
          <p15:clr>
            <a:srgbClr val="A4A3A4"/>
          </p15:clr>
        </p15:guide>
        <p15:guide id="8" pos="2840" userDrawn="1">
          <p15:clr>
            <a:srgbClr val="A4A3A4"/>
          </p15:clr>
        </p15:guide>
        <p15:guide id="9" pos="8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99694"/>
    <a:srgbClr val="B9CDE5"/>
    <a:srgbClr val="FFFFCC"/>
    <a:srgbClr val="385D8A"/>
    <a:srgbClr val="EAF0F7"/>
    <a:srgbClr val="BFBFBF"/>
    <a:srgbClr val="4384D1"/>
    <a:srgbClr val="3F82D0"/>
    <a:srgbClr val="64AC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84" y="88"/>
      </p:cViewPr>
      <p:guideLst>
        <p:guide orient="horz" pos="2071"/>
        <p:guide pos="2160"/>
        <p:guide pos="187"/>
        <p:guide pos="4133"/>
        <p:guide orient="horz" pos="217"/>
        <p:guide orient="horz" pos="6101"/>
        <p:guide orient="horz" pos="4365"/>
        <p:guide pos="2840"/>
        <p:guide pos="86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806BC-5004-4AE4-877F-2259497FAC7D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E57EE-6A3A-4D3E-84F8-56DD0CB1BE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89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866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3467"/>
            </a:lvl1pPr>
            <a:lvl2pPr marL="660380" indent="0" algn="ctr">
              <a:buNone/>
              <a:defRPr sz="2889"/>
            </a:lvl2pPr>
            <a:lvl3pPr marL="1320759" indent="0" algn="ctr">
              <a:buNone/>
              <a:defRPr sz="2600"/>
            </a:lvl3pPr>
            <a:lvl4pPr marL="1981139" indent="0" algn="ctr">
              <a:buNone/>
              <a:defRPr sz="2311"/>
            </a:lvl4pPr>
            <a:lvl5pPr marL="2641519" indent="0" algn="ctr">
              <a:buNone/>
              <a:defRPr sz="2311"/>
            </a:lvl5pPr>
            <a:lvl6pPr marL="3301898" indent="0" algn="ctr">
              <a:buNone/>
              <a:defRPr sz="2311"/>
            </a:lvl6pPr>
            <a:lvl7pPr marL="3962278" indent="0" algn="ctr">
              <a:buNone/>
              <a:defRPr sz="2311"/>
            </a:lvl7pPr>
            <a:lvl8pPr marL="4622658" indent="0" algn="ctr">
              <a:buNone/>
              <a:defRPr sz="2311"/>
            </a:lvl8pPr>
            <a:lvl9pPr marL="5283037" indent="0" algn="ctr">
              <a:buNone/>
              <a:defRPr sz="2311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739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49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7" y="2469625"/>
            <a:ext cx="5915025" cy="4120620"/>
          </a:xfrm>
        </p:spPr>
        <p:txBody>
          <a:bodyPr anchor="b"/>
          <a:lstStyle>
            <a:lvl1pPr>
              <a:defRPr sz="866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7" y="6629228"/>
            <a:ext cx="5915025" cy="2166937"/>
          </a:xfrm>
        </p:spPr>
        <p:txBody>
          <a:bodyPr/>
          <a:lstStyle>
            <a:lvl1pPr marL="0" indent="0">
              <a:buNone/>
              <a:defRPr sz="3467">
                <a:solidFill>
                  <a:schemeClr val="tx1"/>
                </a:solidFill>
              </a:defRPr>
            </a:lvl1pPr>
            <a:lvl2pPr marL="66038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71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156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6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428347"/>
            <a:ext cx="2901255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711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2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398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4"/>
            <a:ext cx="3471863" cy="7039681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56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4622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4"/>
            <a:ext cx="3471863" cy="7039681"/>
          </a:xfrm>
        </p:spPr>
        <p:txBody>
          <a:bodyPr anchor="t"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2311"/>
            </a:lvl1pPr>
            <a:lvl2pPr marL="660380" indent="0">
              <a:buNone/>
              <a:defRPr sz="2022"/>
            </a:lvl2pPr>
            <a:lvl3pPr marL="1320759" indent="0">
              <a:buNone/>
              <a:defRPr sz="1733"/>
            </a:lvl3pPr>
            <a:lvl4pPr marL="1981139" indent="0">
              <a:buNone/>
              <a:defRPr sz="1444"/>
            </a:lvl4pPr>
            <a:lvl5pPr marL="2641519" indent="0">
              <a:buNone/>
              <a:defRPr sz="1444"/>
            </a:lvl5pPr>
            <a:lvl6pPr marL="3301898" indent="0">
              <a:buNone/>
              <a:defRPr sz="1444"/>
            </a:lvl6pPr>
            <a:lvl7pPr marL="3962278" indent="0">
              <a:buNone/>
              <a:defRPr sz="1444"/>
            </a:lvl7pPr>
            <a:lvl8pPr marL="4622658" indent="0">
              <a:buNone/>
              <a:defRPr sz="1444"/>
            </a:lvl8pPr>
            <a:lvl9pPr marL="5283037" indent="0">
              <a:buNone/>
              <a:defRPr sz="1444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237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419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811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6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5FCCC-C5E9-4EE1-AFDC-66DB38E9ECE8}" type="datetimeFigureOut">
              <a:rPr lang="ko-KR" altLang="en-US" smtClean="0"/>
              <a:t>2026-06-19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8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8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2EB9CB-DB95-457D-9A8C-E3F2906A979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A3AC94-B2F3-0F3B-4C32-0987B1C3482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2757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04226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20759" rtl="0" eaLnBrk="1" latinLnBrk="1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90" indent="-330190" algn="l" defTabSz="1320759" rtl="0" eaLnBrk="1" latinLnBrk="1" hangingPunct="1">
        <a:lnSpc>
          <a:spcPct val="90000"/>
        </a:lnSpc>
        <a:spcBef>
          <a:spcPts val="1444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70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1320759" rtl="0" eaLnBrk="1" latinLnBrk="1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1320759" rtl="0" eaLnBrk="1" latinLnBrk="1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8449439"/>
              </p:ext>
            </p:extLst>
          </p:nvPr>
        </p:nvGraphicFramePr>
        <p:xfrm>
          <a:off x="296862" y="1341008"/>
          <a:ext cx="6264276" cy="12724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7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2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90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본인 성명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>
                          <a:latin typeface="Arial Narrow" panose="020B0606020202030204" pitchFamily="34" charset="0"/>
                        </a:rPr>
                        <a:t>황인휘</a:t>
                      </a:r>
                      <a:endParaRPr lang="ko-KR" altLang="en-US" sz="11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사원번호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Arial Narrow" panose="020B0606020202030204" pitchFamily="34" charset="0"/>
                        </a:rPr>
                        <a:t>218843</a:t>
                      </a:r>
                      <a:endParaRPr lang="ko-KR" altLang="en-US" sz="1100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01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>
                          <a:latin typeface="Arial Narrow" panose="020B0606020202030204" pitchFamily="34" charset="0"/>
                        </a:rPr>
                        <a:t>소속</a:t>
                      </a:r>
                      <a:endParaRPr lang="en-US" altLang="ko-KR" sz="1100" b="1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본부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ko-KR" altLang="en-US" sz="1100" b="1">
                          <a:latin typeface="Arial Narrow" panose="020B0606020202030204" pitchFamily="34" charset="0"/>
                        </a:rPr>
                        <a:t>부문</a:t>
                      </a:r>
                      <a:endParaRPr lang="en-US" altLang="ko-KR" sz="1100" b="1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</a:rPr>
                        <a:t>CTO</a:t>
                      </a:r>
                      <a:endParaRPr lang="ko-KR" altLang="en-US" sz="11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생년월일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320759" rtl="0" eaLnBrk="1" latinLnBrk="1" hangingPunct="1">
                        <a:lnSpc>
                          <a:spcPct val="150000"/>
                        </a:lnSpc>
                      </a:pP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1973/11/15</a:t>
                      </a: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01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132075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팀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계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지점</a:t>
                      </a:r>
                      <a:endParaRPr lang="en-US" altLang="ko-KR" sz="1100" b="1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>
                          <a:latin typeface="Arial Narrow" panose="020B0606020202030204" pitchFamily="34" charset="0"/>
                        </a:rPr>
                        <a:t>HS/ES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</a:rPr>
                        <a:t>선행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ko-KR" altLang="en-US" sz="1100" dirty="0">
                          <a:latin typeface="Arial Narrow" panose="020B0606020202030204" pitchFamily="34" charset="0"/>
                        </a:rPr>
                        <a:t>연</a:t>
                      </a:r>
                      <a:r>
                        <a:rPr lang="en-US" altLang="ko-KR" sz="1100" dirty="0">
                          <a:latin typeface="Arial Narrow" panose="020B0606020202030204" pitchFamily="34" charset="0"/>
                        </a:rPr>
                        <a:t>)Interactive Home Solution Task</a:t>
                      </a:r>
                      <a:endParaRPr lang="ko-KR" altLang="en-US" sz="1100" dirty="0">
                        <a:latin typeface="Arial Narrow" panose="020B0606020202030204" pitchFamily="34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DC </a:t>
                      </a:r>
                      <a:r>
                        <a:rPr lang="ko-KR" altLang="en-US" sz="1100" b="1" dirty="0">
                          <a:latin typeface="Arial Narrow" panose="020B0606020202030204" pitchFamily="34" charset="0"/>
                        </a:rPr>
                        <a:t>퇴직연금사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100" u="sng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신한투자증권 </a:t>
                      </a:r>
                      <a:endParaRPr lang="en-US" altLang="ko-KR" sz="1050" u="sng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제목 1"/>
          <p:cNvSpPr txBox="1">
            <a:spLocks/>
          </p:cNvSpPr>
          <p:nvPr/>
        </p:nvSpPr>
        <p:spPr>
          <a:xfrm>
            <a:off x="296863" y="337445"/>
            <a:ext cx="6264275" cy="551198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endParaRPr lang="ko-KR" altLang="en-US" sz="1200" dirty="0">
              <a:latin typeface="Arial Narrow" panose="020B0606020202030204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96863" y="458183"/>
            <a:ext cx="5915025" cy="309721"/>
          </a:xfrm>
        </p:spPr>
        <p:txBody>
          <a:bodyPr>
            <a:noAutofit/>
          </a:bodyPr>
          <a:lstStyle/>
          <a:p>
            <a:pPr latinLnBrk="0"/>
            <a:r>
              <a:rPr lang="ko-KR" altLang="en-US" sz="2400" b="1" dirty="0">
                <a:solidFill>
                  <a:schemeClr val="bg1"/>
                </a:solidFill>
                <a:latin typeface="Arial Narrow" panose="020B0606020202030204" pitchFamily="34" charset="0"/>
              </a:rPr>
              <a:t>퇴직연금 제도 전환 확인서 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</a:rPr>
              <a:t>(DB</a:t>
            </a:r>
            <a:r>
              <a:rPr lang="ko-KR" altLang="en-US" sz="1200">
                <a:solidFill>
                  <a:schemeClr val="bg1"/>
                </a:solidFill>
                <a:latin typeface="Arial Narrow" panose="020B0606020202030204" pitchFamily="34" charset="0"/>
              </a:rPr>
              <a:t>형→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</a:rPr>
              <a:t>DC</a:t>
            </a:r>
            <a:r>
              <a:rPr lang="ko-KR" altLang="en-US" sz="1200">
                <a:solidFill>
                  <a:schemeClr val="bg1"/>
                </a:solidFill>
                <a:latin typeface="Arial Narrow" panose="020B0606020202030204" pitchFamily="34" charset="0"/>
              </a:rPr>
              <a:t>형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ko-KR" altLang="en-US" sz="1200">
                <a:solidFill>
                  <a:schemeClr val="bg1"/>
                </a:solidFill>
                <a:latin typeface="Arial Narrow" panose="020B0606020202030204" pitchFamily="34" charset="0"/>
              </a:rPr>
              <a:t>또는 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</a:rPr>
              <a:t>DC</a:t>
            </a:r>
            <a:r>
              <a:rPr lang="ko-KR" altLang="en-US" sz="1200">
                <a:solidFill>
                  <a:schemeClr val="bg1"/>
                </a:solidFill>
                <a:latin typeface="Arial Narrow" panose="020B0606020202030204" pitchFamily="34" charset="0"/>
              </a:rPr>
              <a:t>형→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</a:rPr>
              <a:t>DB</a:t>
            </a:r>
            <a:r>
              <a:rPr lang="ko-KR" altLang="en-US" sz="1200">
                <a:solidFill>
                  <a:schemeClr val="bg1"/>
                </a:solidFill>
                <a:latin typeface="Arial Narrow" panose="020B0606020202030204" pitchFamily="34" charset="0"/>
              </a:rPr>
              <a:t>형</a:t>
            </a:r>
            <a:r>
              <a:rPr lang="en-US" altLang="ko-KR" sz="1200" dirty="0">
                <a:solidFill>
                  <a:schemeClr val="bg1"/>
                </a:solidFill>
                <a:latin typeface="Arial Narrow" panose="020B0606020202030204" pitchFamily="34" charset="0"/>
              </a:rPr>
              <a:t>)</a:t>
            </a:r>
            <a:endParaRPr lang="ko-KR" altLang="en-US" sz="12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96863" y="1009381"/>
            <a:ext cx="5915025" cy="309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■</a:t>
            </a:r>
            <a:r>
              <a:rPr lang="ko-KR" altLang="en-US" sz="1200" b="1" dirty="0">
                <a:latin typeface="Arial Narrow" panose="020B0606020202030204" pitchFamily="34" charset="0"/>
              </a:rPr>
              <a:t> 신청자 정보</a:t>
            </a:r>
          </a:p>
        </p:txBody>
      </p:sp>
      <p:sp>
        <p:nvSpPr>
          <p:cNvPr id="8" name="제목 1"/>
          <p:cNvSpPr txBox="1">
            <a:spLocks/>
          </p:cNvSpPr>
          <p:nvPr/>
        </p:nvSpPr>
        <p:spPr>
          <a:xfrm>
            <a:off x="296863" y="2673382"/>
            <a:ext cx="6264275" cy="309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ko-KR" altLang="en-US" sz="1200" b="1" dirty="0">
                <a:latin typeface="Arial Narrow" panose="020B0606020202030204" pitchFamily="34" charset="0"/>
              </a:rPr>
              <a:t>본인은 퇴직연금 제도의 전환과 관련한 제반 사항을 충분히                                               합니다</a:t>
            </a:r>
            <a:r>
              <a:rPr lang="en-US" altLang="ko-KR" sz="1200" b="1" dirty="0">
                <a:latin typeface="Arial Narrow" panose="020B0606020202030204" pitchFamily="34" charset="0"/>
              </a:rPr>
              <a:t>.</a:t>
            </a:r>
            <a:endParaRPr lang="ko-KR" altLang="en-US" sz="1200" b="1" dirty="0">
              <a:latin typeface="Arial Narrow" panose="020B0606020202030204" pitchFamily="34" charset="0"/>
            </a:endParaRP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3799930" y="2664406"/>
            <a:ext cx="1748790" cy="309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latinLnBrk="0"/>
            <a:r>
              <a:rPr lang="ko-KR" altLang="en-US" sz="140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인지하고 스스로 신청</a:t>
            </a:r>
          </a:p>
        </p:txBody>
      </p:sp>
      <p:cxnSp>
        <p:nvCxnSpPr>
          <p:cNvPr id="11" name="직선 연결선 10"/>
          <p:cNvCxnSpPr/>
          <p:nvPr/>
        </p:nvCxnSpPr>
        <p:spPr>
          <a:xfrm>
            <a:off x="3873240" y="2932124"/>
            <a:ext cx="15811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1"/>
          <p:cNvSpPr txBox="1">
            <a:spLocks/>
          </p:cNvSpPr>
          <p:nvPr/>
        </p:nvSpPr>
        <p:spPr>
          <a:xfrm>
            <a:off x="296863" y="6834290"/>
            <a:ext cx="6264275" cy="8465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lnSpc>
                <a:spcPct val="150000"/>
              </a:lnSpc>
            </a:pPr>
            <a:endParaRPr lang="ko-KR" altLang="en-US" sz="1200" b="1" dirty="0">
              <a:latin typeface="Arial Narrow" panose="020B0606020202030204" pitchFamily="34" charset="0"/>
            </a:endParaRP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96863" y="9322477"/>
            <a:ext cx="6264275" cy="309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en-US" altLang="ko-KR" sz="1600" b="1" dirty="0">
                <a:latin typeface="Arial Narrow" panose="020B0606020202030204" pitchFamily="34" charset="0"/>
              </a:rPr>
              <a:t>LG</a:t>
            </a:r>
            <a:r>
              <a:rPr lang="ko-KR" altLang="en-US" sz="1600" b="1">
                <a:latin typeface="Arial Narrow" panose="020B0606020202030204" pitchFamily="34" charset="0"/>
              </a:rPr>
              <a:t>전자 주식회사 귀중</a:t>
            </a:r>
            <a:endParaRPr lang="ko-KR" altLang="en-US" sz="1600" b="1" dirty="0">
              <a:latin typeface="Arial Narrow" panose="020B0606020202030204" pitchFamily="34" charset="0"/>
            </a:endParaRPr>
          </a:p>
        </p:txBody>
      </p:sp>
      <p:sp>
        <p:nvSpPr>
          <p:cNvPr id="24" name="제목 1"/>
          <p:cNvSpPr txBox="1">
            <a:spLocks/>
          </p:cNvSpPr>
          <p:nvPr/>
        </p:nvSpPr>
        <p:spPr>
          <a:xfrm>
            <a:off x="296863" y="6996428"/>
            <a:ext cx="6264275" cy="118749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>
              <a:lnSpc>
                <a:spcPct val="120000"/>
              </a:lnSpc>
            </a:pPr>
            <a:r>
              <a:rPr lang="ko-KR" altLang="en-US" sz="1200" b="1" dirty="0">
                <a:latin typeface="Arial Narrow" panose="020B0606020202030204" pitchFamily="34" charset="0"/>
              </a:rPr>
              <a:t>본인은 상기 내용에 동의하며</a:t>
            </a:r>
            <a:r>
              <a:rPr lang="en-US" altLang="ko-KR" sz="1200" b="1" dirty="0">
                <a:latin typeface="Arial Narrow" panose="020B0606020202030204" pitchFamily="34" charset="0"/>
              </a:rPr>
              <a:t>, </a:t>
            </a:r>
            <a:r>
              <a:rPr lang="ko-KR" altLang="en-US" sz="1200" b="1" dirty="0">
                <a:latin typeface="Arial Narrow" panose="020B0606020202030204" pitchFamily="34" charset="0"/>
              </a:rPr>
              <a:t>확정급여형</a:t>
            </a:r>
            <a:r>
              <a:rPr lang="en-US" altLang="ko-KR" sz="1200" b="1" dirty="0">
                <a:latin typeface="Arial Narrow" panose="020B0606020202030204" pitchFamily="34" charset="0"/>
              </a:rPr>
              <a:t>(DB</a:t>
            </a:r>
            <a:r>
              <a:rPr lang="ko-KR" altLang="en-US" sz="1200" b="1" dirty="0">
                <a:latin typeface="Arial Narrow" panose="020B0606020202030204" pitchFamily="34" charset="0"/>
              </a:rPr>
              <a:t>형</a:t>
            </a:r>
            <a:r>
              <a:rPr lang="en-US" altLang="ko-KR" sz="1200" b="1" dirty="0">
                <a:latin typeface="Arial Narrow" panose="020B0606020202030204" pitchFamily="34" charset="0"/>
              </a:rPr>
              <a:t>)</a:t>
            </a:r>
            <a:r>
              <a:rPr lang="ko-KR" altLang="en-US" sz="1200" b="1" dirty="0">
                <a:latin typeface="Arial Narrow" panose="020B0606020202030204" pitchFamily="34" charset="0"/>
              </a:rPr>
              <a:t> 퇴직연금제도와 확정기여형</a:t>
            </a:r>
            <a:r>
              <a:rPr lang="en-US" altLang="ko-KR" sz="1200" b="1" dirty="0">
                <a:latin typeface="Arial Narrow" panose="020B0606020202030204" pitchFamily="34" charset="0"/>
              </a:rPr>
              <a:t>(DC</a:t>
            </a:r>
            <a:r>
              <a:rPr lang="ko-KR" altLang="en-US" sz="1200" b="1" dirty="0">
                <a:latin typeface="Arial Narrow" panose="020B0606020202030204" pitchFamily="34" charset="0"/>
              </a:rPr>
              <a:t>형</a:t>
            </a:r>
            <a:r>
              <a:rPr lang="en-US" altLang="ko-KR" sz="1200" b="1" dirty="0">
                <a:latin typeface="Arial Narrow" panose="020B0606020202030204" pitchFamily="34" charset="0"/>
              </a:rPr>
              <a:t>)</a:t>
            </a:r>
            <a:r>
              <a:rPr lang="ko-KR" altLang="en-US" sz="1200" b="1" dirty="0">
                <a:latin typeface="Arial Narrow" panose="020B0606020202030204" pitchFamily="34" charset="0"/>
              </a:rPr>
              <a:t> 퇴직연금제도의 연금 제도별 특성을 충분히 이해하고</a:t>
            </a:r>
            <a:r>
              <a:rPr lang="en-US" altLang="ko-KR" sz="1200" b="1" dirty="0">
                <a:latin typeface="Arial Narrow" panose="020B0606020202030204" pitchFamily="34" charset="0"/>
              </a:rPr>
              <a:t>,</a:t>
            </a:r>
            <a:r>
              <a:rPr lang="ko-KR" altLang="en-US" sz="1200" b="1" dirty="0">
                <a:latin typeface="Arial Narrow" panose="020B0606020202030204" pitchFamily="34" charset="0"/>
              </a:rPr>
              <a:t> 규약의 주요 내용과 공지사항의 설명 자료를 숙지하고 제도의 전환을 신청합니다</a:t>
            </a:r>
            <a:r>
              <a:rPr lang="en-US" altLang="ko-KR" sz="1200" b="1" dirty="0">
                <a:latin typeface="Arial Narrow" panose="020B0606020202030204" pitchFamily="34" charset="0"/>
              </a:rPr>
              <a:t>. </a:t>
            </a:r>
            <a:r>
              <a:rPr lang="ko-KR" altLang="en-US" sz="1200" b="1" dirty="0">
                <a:latin typeface="Arial Narrow" panose="020B0606020202030204" pitchFamily="34" charset="0"/>
              </a:rPr>
              <a:t>또한</a:t>
            </a:r>
            <a:r>
              <a:rPr lang="en-US" altLang="ko-KR" sz="1200" b="1" dirty="0">
                <a:latin typeface="Arial Narrow" panose="020B0606020202030204" pitchFamily="34" charset="0"/>
              </a:rPr>
              <a:t>,</a:t>
            </a:r>
            <a:r>
              <a:rPr lang="ko-KR" altLang="en-US" sz="1200" b="1" dirty="0">
                <a:latin typeface="Arial Narrow" panose="020B0606020202030204" pitchFamily="34" charset="0"/>
              </a:rPr>
              <a:t> 제도의 전환이 본인에게 유리하다는 판단 하에 본인의 자발적 의사에 따라 신청하고</a:t>
            </a:r>
            <a:r>
              <a:rPr lang="en-US" altLang="ko-KR" sz="1200" b="1" dirty="0">
                <a:latin typeface="Arial Narrow" panose="020B0606020202030204" pitchFamily="34" charset="0"/>
              </a:rPr>
              <a:t>, </a:t>
            </a:r>
            <a:r>
              <a:rPr lang="ko-KR" altLang="en-US" sz="1200" b="1" dirty="0">
                <a:latin typeface="Arial Narrow" panose="020B0606020202030204" pitchFamily="34" charset="0"/>
              </a:rPr>
              <a:t>향후 이로 인해 발생하는 제반 문제에 대하여 어떠한 형태의 이의를 제기하지 않을 것임을 확인합니다</a:t>
            </a:r>
            <a:r>
              <a:rPr lang="en-US" altLang="ko-KR" sz="1200" b="1" dirty="0">
                <a:latin typeface="Arial Narrow" panose="020B0606020202030204" pitchFamily="34" charset="0"/>
              </a:rPr>
              <a:t>. </a:t>
            </a:r>
            <a:r>
              <a:rPr lang="ko-KR" altLang="en-US" sz="1200" b="1" dirty="0">
                <a:latin typeface="Arial Narrow" panose="020B0606020202030204" pitchFamily="34" charset="0"/>
              </a:rPr>
              <a:t>또한 본 신청</a:t>
            </a:r>
            <a:r>
              <a:rPr lang="en-US" altLang="ko-KR" sz="1200" b="1" dirty="0">
                <a:latin typeface="Arial Narrow" panose="020B0606020202030204" pitchFamily="34" charset="0"/>
              </a:rPr>
              <a:t>(</a:t>
            </a:r>
            <a:r>
              <a:rPr lang="ko-KR" altLang="en-US" sz="1200" b="1" dirty="0">
                <a:latin typeface="Arial Narrow" panose="020B0606020202030204" pitchFamily="34" charset="0"/>
              </a:rPr>
              <a:t>확인</a:t>
            </a:r>
            <a:r>
              <a:rPr lang="en-US" altLang="ko-KR" sz="1200" b="1" dirty="0">
                <a:latin typeface="Arial Narrow" panose="020B0606020202030204" pitchFamily="34" charset="0"/>
              </a:rPr>
              <a:t>)</a:t>
            </a:r>
            <a:r>
              <a:rPr lang="ko-KR" altLang="en-US" sz="1200" b="1" dirty="0">
                <a:latin typeface="Arial Narrow" panose="020B0606020202030204" pitchFamily="34" charset="0"/>
              </a:rPr>
              <a:t>은 </a:t>
            </a:r>
            <a:r>
              <a:rPr lang="ko-KR" altLang="en-US" sz="1200" b="1" u="sng" dirty="0">
                <a:latin typeface="Arial Narrow" panose="020B0606020202030204" pitchFamily="34" charset="0"/>
              </a:rPr>
              <a:t>철회할 수 없음</a:t>
            </a:r>
            <a:r>
              <a:rPr lang="ko-KR" altLang="en-US" sz="1200" b="1" dirty="0">
                <a:latin typeface="Arial Narrow" panose="020B0606020202030204" pitchFamily="34" charset="0"/>
              </a:rPr>
              <a:t>을 인지합니다</a:t>
            </a:r>
            <a:r>
              <a:rPr lang="en-US" altLang="ko-KR" sz="1200" b="1" dirty="0">
                <a:latin typeface="Arial Narrow" panose="020B0606020202030204" pitchFamily="34" charset="0"/>
              </a:rPr>
              <a:t>. </a:t>
            </a:r>
            <a:endParaRPr lang="ko-KR" altLang="en-US" sz="1200" b="1" dirty="0">
              <a:latin typeface="Arial Narrow" panose="020B0606020202030204" pitchFamily="34" charset="0"/>
            </a:endParaRPr>
          </a:p>
        </p:txBody>
      </p:sp>
      <p:sp>
        <p:nvSpPr>
          <p:cNvPr id="25" name="제목 1"/>
          <p:cNvSpPr txBox="1">
            <a:spLocks/>
          </p:cNvSpPr>
          <p:nvPr/>
        </p:nvSpPr>
        <p:spPr>
          <a:xfrm>
            <a:off x="296863" y="8259716"/>
            <a:ext cx="6264275" cy="105485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latinLnBrk="0">
              <a:lnSpc>
                <a:spcPct val="150000"/>
              </a:lnSpc>
            </a:pPr>
            <a:r>
              <a:rPr lang="en-US" altLang="ko-KR" sz="1200" b="1" dirty="0">
                <a:latin typeface="Arial Narrow" panose="020B0606020202030204" pitchFamily="34" charset="0"/>
              </a:rPr>
              <a:t>2026 </a:t>
            </a:r>
            <a:r>
              <a:rPr lang="ko-KR" altLang="en-US" sz="1200" b="1" dirty="0">
                <a:latin typeface="Arial Narrow" panose="020B0606020202030204" pitchFamily="34" charset="0"/>
              </a:rPr>
              <a:t>년 </a:t>
            </a:r>
            <a:r>
              <a:rPr lang="en-US" altLang="ko-KR" sz="1200" b="1" dirty="0">
                <a:latin typeface="Arial Narrow" panose="020B0606020202030204" pitchFamily="34" charset="0"/>
              </a:rPr>
              <a:t>     6  </a:t>
            </a:r>
            <a:r>
              <a:rPr lang="ko-KR" altLang="en-US" sz="1200" b="1" dirty="0">
                <a:latin typeface="Arial Narrow" panose="020B0606020202030204" pitchFamily="34" charset="0"/>
              </a:rPr>
              <a:t>월 </a:t>
            </a:r>
            <a:r>
              <a:rPr lang="en-US" altLang="ko-KR" sz="1200" b="1" dirty="0">
                <a:latin typeface="Arial Narrow" panose="020B0606020202030204" pitchFamily="34" charset="0"/>
              </a:rPr>
              <a:t>      19  </a:t>
            </a:r>
            <a:r>
              <a:rPr lang="ko-KR" altLang="en-US" sz="1200" b="1" dirty="0">
                <a:latin typeface="Arial Narrow" panose="020B0606020202030204" pitchFamily="34" charset="0"/>
              </a:rPr>
              <a:t>일</a:t>
            </a:r>
            <a:endParaRPr lang="en-US" altLang="ko-KR" sz="1200" b="1" dirty="0">
              <a:latin typeface="Arial Narrow" panose="020B0606020202030204" pitchFamily="34" charset="0"/>
            </a:endParaRPr>
          </a:p>
          <a:p>
            <a:pPr algn="ctr" latinLnBrk="0">
              <a:lnSpc>
                <a:spcPct val="150000"/>
              </a:lnSpc>
            </a:pPr>
            <a:endParaRPr lang="en-US" altLang="ko-KR" sz="1200" b="1" dirty="0">
              <a:latin typeface="Arial Narrow" panose="020B0606020202030204" pitchFamily="34" charset="0"/>
            </a:endParaRPr>
          </a:p>
          <a:p>
            <a:pPr algn="ctr" latinLnBrk="0">
              <a:lnSpc>
                <a:spcPct val="150000"/>
              </a:lnSpc>
            </a:pPr>
            <a:r>
              <a:rPr lang="ko-KR" altLang="en-US" sz="1200" b="1" dirty="0">
                <a:latin typeface="Arial Narrow" panose="020B0606020202030204" pitchFamily="34" charset="0"/>
              </a:rPr>
              <a:t>작성자 본인 확인 성명</a:t>
            </a:r>
            <a:r>
              <a:rPr lang="en-US" altLang="ko-KR" sz="1200" b="1" dirty="0">
                <a:latin typeface="Arial Narrow" panose="020B0606020202030204" pitchFamily="34" charset="0"/>
              </a:rPr>
              <a:t>:  </a:t>
            </a:r>
            <a:r>
              <a:rPr lang="ko-KR" altLang="en-US" sz="1200" b="1" dirty="0">
                <a:latin typeface="Arial Narrow" panose="020B0606020202030204" pitchFamily="34" charset="0"/>
              </a:rPr>
              <a:t>황 인 휘</a:t>
            </a:r>
            <a:r>
              <a:rPr lang="en-US" altLang="ko-KR" sz="1200" b="1" dirty="0">
                <a:latin typeface="Arial Narrow" panose="020B0606020202030204" pitchFamily="34" charset="0"/>
              </a:rPr>
              <a:t>    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(</a:t>
            </a:r>
            <a:r>
              <a:rPr lang="ko-KR" altLang="en-US" sz="105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서명 또는 날인</a:t>
            </a:r>
            <a:r>
              <a:rPr lang="en-US" altLang="ko-KR" sz="1050" b="1" dirty="0">
                <a:solidFill>
                  <a:schemeClr val="bg1">
                    <a:lumMod val="65000"/>
                  </a:schemeClr>
                </a:solidFill>
                <a:latin typeface="Arial Narrow" panose="020B0606020202030204" pitchFamily="34" charset="0"/>
              </a:rPr>
              <a:t>)</a:t>
            </a:r>
            <a:endParaRPr lang="ko-KR" altLang="en-US" sz="1200" b="1" dirty="0">
              <a:solidFill>
                <a:schemeClr val="bg1">
                  <a:lumMod val="65000"/>
                </a:schemeClr>
              </a:solidFill>
              <a:latin typeface="Arial Narrow" panose="020B0606020202030204" pitchFamily="34" charset="0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1876425" y="9110288"/>
            <a:ext cx="22383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제목 1"/>
          <p:cNvSpPr txBox="1">
            <a:spLocks/>
          </p:cNvSpPr>
          <p:nvPr/>
        </p:nvSpPr>
        <p:spPr>
          <a:xfrm>
            <a:off x="296863" y="3032515"/>
            <a:ext cx="5915025" cy="3097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atinLnBrk="0"/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  <a:latin typeface="Arial Narrow" panose="020B0606020202030204" pitchFamily="34" charset="0"/>
              </a:rPr>
              <a:t>■</a:t>
            </a:r>
            <a:r>
              <a:rPr lang="ko-KR" altLang="en-US" sz="1200" b="1" dirty="0">
                <a:solidFill>
                  <a:prstClr val="black"/>
                </a:solidFill>
                <a:latin typeface="Arial Narrow" panose="020B0606020202030204" pitchFamily="34" charset="0"/>
                <a:cs typeface="+mn-cs"/>
              </a:rPr>
              <a:t> </a:t>
            </a:r>
            <a:r>
              <a:rPr lang="ko-KR" altLang="en-US" sz="1200" b="1" dirty="0">
                <a:latin typeface="Arial Narrow" panose="020B0606020202030204" pitchFamily="34" charset="0"/>
              </a:rPr>
              <a:t>필수 확인 사항</a:t>
            </a:r>
          </a:p>
        </p:txBody>
      </p:sp>
      <p:graphicFrame>
        <p:nvGraphicFramePr>
          <p:cNvPr id="31" name="내용 개체 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6104247"/>
              </p:ext>
            </p:extLst>
          </p:nvPr>
        </p:nvGraphicFramePr>
        <p:xfrm>
          <a:off x="296862" y="3344864"/>
          <a:ext cx="6264276" cy="35814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7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25314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DB</a:t>
                      </a:r>
                      <a:r>
                        <a:rPr lang="ko-KR" altLang="en-US" sz="1100" b="1">
                          <a:latin typeface="Arial Narrow" panose="020B0606020202030204" pitchFamily="34" charset="0"/>
                        </a:rPr>
                        <a:t>형에서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100" b="1">
                          <a:latin typeface="Arial Narrow" panose="020B0606020202030204" pitchFamily="34" charset="0"/>
                        </a:rPr>
                        <a:t>형으로 전환하는 경우</a:t>
                      </a:r>
                      <a:endParaRPr lang="ko-KR" altLang="en-US" sz="1100" b="1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 가입은 계속 근로기간이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1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년 이상이고 제도전환을 신청한 자에 한합니다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Arial Narrow" panose="020B0606020202030204" pitchFamily="34" charset="0"/>
                        </a:rPr>
                        <a:t>기존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DB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형의 가입기간을 통산하여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 가입기간으로 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Arial Narrow" panose="020B0606020202030204" pitchFamily="34" charset="0"/>
                        </a:rPr>
                        <a:t>회사 부담금 외에 본인의 부담으로 추가 부담금을 납부할 수 있으며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납부의사 및 금액을 사용자에게 통지하여 납부하게 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</a:t>
                      </a:r>
                      <a:r>
                        <a:rPr lang="ko-KR" altLang="en-US" sz="1000" b="1" u="sng">
                          <a:latin typeface="Arial Narrow" panose="020B0606020202030204" pitchFamily="34" charset="0"/>
                        </a:rPr>
                        <a:t>본인의 의사에 따라 납부한 부담금에 따른 제반 수수료는 본인이 부담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(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상세</a:t>
                      </a:r>
                      <a:r>
                        <a:rPr lang="ko-KR" altLang="en-US" sz="1000" b="0" baseline="0">
                          <a:latin typeface="Arial Narrow" panose="020B0606020202030204" pitchFamily="34" charset="0"/>
                        </a:rPr>
                        <a:t> 내용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은 퇴직연금에</a:t>
                      </a:r>
                      <a:r>
                        <a:rPr lang="ko-KR" altLang="en-US" sz="1000" b="0" baseline="0">
                          <a:latin typeface="Arial Narrow" panose="020B0606020202030204" pitchFamily="34" charset="0"/>
                        </a:rPr>
                        <a:t> 개별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 문의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)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1" u="sng" dirty="0">
                          <a:latin typeface="Arial Narrow" panose="020B0606020202030204" pitchFamily="34" charset="0"/>
                        </a:rPr>
                        <a:t>운용 상품에 따라서 원금이나 수익이 보장되지 않으며</a:t>
                      </a:r>
                      <a:r>
                        <a:rPr lang="en-US" altLang="ko-KR" sz="1000" b="1" u="sng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1" u="sng">
                          <a:latin typeface="Arial Narrow" panose="020B0606020202030204" pitchFamily="34" charset="0"/>
                        </a:rPr>
                        <a:t>원금의 손실이 발생할 경우 모두 개인이 감수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해야 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(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사전지정운용제도의 적용을 받는 경우를 포함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)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원금보장형 상품 여부 및 가입 방법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절차 등에 관한 사항은 개별적으로 가입하는 퇴직연금사를 통하여 확인해야 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Arial Narrow" panose="020B0606020202030204" pitchFamily="34" charset="0"/>
                        </a:rPr>
                        <a:t>추후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DB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형으로 다시 전환하더라도 기존 운용 내용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(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손익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상품가입 등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)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은 그대로 유지되고 본인에게 귀속됩니다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Arial Narrow" panose="020B0606020202030204" pitchFamily="34" charset="0"/>
                        </a:rPr>
                        <a:t>기존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 퇴직연금 가입 이력이 있는 경우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다시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형으로 가입하는 제도 전환 신청시 기존 가입된 퇴직연금사를 그대로 유지해야 하며 연금사업자 변경은 별도로 신청해야 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138">
                <a:tc>
                  <a:txBody>
                    <a:bodyPr/>
                    <a:lstStyle/>
                    <a:p>
                      <a:pPr algn="ctr" latinLnBrk="0">
                        <a:lnSpc>
                          <a:spcPct val="120000"/>
                        </a:lnSpc>
                      </a:pP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100" b="1">
                          <a:latin typeface="Arial Narrow" panose="020B0606020202030204" pitchFamily="34" charset="0"/>
                        </a:rPr>
                        <a:t>형에서 </a:t>
                      </a:r>
                      <a:r>
                        <a:rPr lang="en-US" altLang="ko-KR" sz="1100" b="1" dirty="0">
                          <a:latin typeface="Arial Narrow" panose="020B0606020202030204" pitchFamily="34" charset="0"/>
                        </a:rPr>
                        <a:t>DB</a:t>
                      </a:r>
                      <a:r>
                        <a:rPr lang="ko-KR" altLang="en-US" sz="1100" b="1">
                          <a:latin typeface="Arial Narrow" panose="020B0606020202030204" pitchFamily="34" charset="0"/>
                        </a:rPr>
                        <a:t>형으로 전환하는 경우</a:t>
                      </a:r>
                      <a:endParaRPr lang="ko-KR" altLang="en-US" sz="1100" b="1" dirty="0"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 가입자는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DB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형으로 전환을 신청할 수 있으나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제도 전환은 장래를 향해서만 가능하고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,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신청 시점 이전에 대해</a:t>
                      </a:r>
                      <a:r>
                        <a:rPr lang="ko-KR" altLang="en-US" sz="1000" b="0" baseline="0">
                          <a:latin typeface="Arial Narrow" panose="020B0606020202030204" pitchFamily="34" charset="0"/>
                        </a:rPr>
                        <a:t> 소급하여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DB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형으로 다시 가입할 수 없습니다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Arial Narrow" panose="020B0606020202030204" pitchFamily="34" charset="0"/>
                        </a:rPr>
                        <a:t>기존 적립되어 운용중인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 계좌는 변동되지 아니하고 계속 운용하게 됩니다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따라서 기존의 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DC</a:t>
                      </a:r>
                      <a:r>
                        <a:rPr lang="ko-KR" altLang="en-US" sz="1000" b="0">
                          <a:latin typeface="Arial Narrow" panose="020B0606020202030204" pitchFamily="34" charset="0"/>
                        </a:rPr>
                        <a:t>형 계좌에서 발생한 손해는 보전되지 않습니다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</a:t>
                      </a:r>
                    </a:p>
                    <a:p>
                      <a:pPr marL="171450" indent="-171450" latinLnBrk="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b="0" dirty="0">
                          <a:latin typeface="Arial Narrow" panose="020B0606020202030204" pitchFamily="34" charset="0"/>
                        </a:rPr>
                        <a:t>사전지정운용제도를 통하여 운용되는 경우에도 회사가 그 손익을 책임지지 않습니다</a:t>
                      </a:r>
                      <a:r>
                        <a:rPr lang="en-US" altLang="ko-KR" sz="1000" b="0" dirty="0">
                          <a:latin typeface="Arial Narrow" panose="020B0606020202030204" pitchFamily="34" charset="0"/>
                        </a:rPr>
                        <a:t>.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36" name="직선 연결선 35"/>
          <p:cNvCxnSpPr/>
          <p:nvPr/>
        </p:nvCxnSpPr>
        <p:spPr>
          <a:xfrm>
            <a:off x="296862" y="9635433"/>
            <a:ext cx="6264276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3502818" y="8620008"/>
            <a:ext cx="226695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ko-KR" sz="10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정자</a:t>
            </a:r>
            <a:r>
              <a:rPr lang="en-US" altLang="ko-KR" sz="10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(</a:t>
            </a:r>
            <a:r>
              <a:rPr lang="ko-KR" altLang="ko-KR" sz="1000" b="1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正字</a:t>
            </a:r>
            <a:r>
              <a:rPr lang="en-US" altLang="ko-KR" sz="10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)</a:t>
            </a:r>
            <a:r>
              <a:rPr lang="ko-KR" altLang="ko-KR" sz="1000" b="1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로 자필</a:t>
            </a:r>
            <a:r>
              <a:rPr lang="en-US" altLang="ko-KR" sz="10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000" b="1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서명하여</a:t>
            </a:r>
            <a:r>
              <a:rPr lang="en-US" altLang="ko-KR" sz="10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 </a:t>
            </a:r>
            <a:r>
              <a:rPr lang="ko-KR" altLang="ko-KR" sz="1000" b="1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주십시오</a:t>
            </a:r>
            <a:r>
              <a:rPr lang="en-US" altLang="ko-KR" sz="1000" b="1" dirty="0">
                <a:solidFill>
                  <a:srgbClr val="FF0000"/>
                </a:solidFill>
                <a:latin typeface="Arial Narrow" panose="020B0606020202030204" pitchFamily="34" charset="0"/>
                <a:cs typeface="Times New Roman" panose="02020603050405020304" pitchFamily="18" charset="0"/>
              </a:rPr>
              <a:t>.</a:t>
            </a:r>
            <a:endParaRPr lang="ko-KR" altLang="en-US" sz="1000">
              <a:latin typeface="Arial Narrow" panose="020B0606020202030204" pitchFamily="34" charset="0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>
            <a:off x="2471420" y="8557838"/>
            <a:ext cx="19132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제목 1"/>
          <p:cNvSpPr txBox="1">
            <a:spLocks/>
          </p:cNvSpPr>
          <p:nvPr/>
        </p:nvSpPr>
        <p:spPr>
          <a:xfrm>
            <a:off x="4853636" y="923118"/>
            <a:ext cx="1781320" cy="4329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latinLnBrk="0">
              <a:lnSpc>
                <a:spcPct val="100000"/>
              </a:lnSpc>
            </a:pPr>
            <a:r>
              <a:rPr lang="en-US" altLang="ko-KR" sz="900" b="1" dirty="0">
                <a:latin typeface="Arial Narrow" panose="020B0606020202030204" pitchFamily="34" charset="0"/>
              </a:rPr>
              <a:t>※ DB</a:t>
            </a:r>
            <a:r>
              <a:rPr lang="ko-KR" altLang="en-US" sz="900" b="1">
                <a:latin typeface="Arial Narrow" panose="020B0606020202030204" pitchFamily="34" charset="0"/>
              </a:rPr>
              <a:t>형</a:t>
            </a:r>
            <a:r>
              <a:rPr lang="en-US" altLang="ko-KR" sz="900" b="1" dirty="0">
                <a:latin typeface="Arial Narrow" panose="020B0606020202030204" pitchFamily="34" charset="0"/>
              </a:rPr>
              <a:t>: </a:t>
            </a:r>
            <a:r>
              <a:rPr lang="ko-KR" altLang="en-US" sz="900" b="1">
                <a:latin typeface="Arial Narrow" panose="020B0606020202030204" pitchFamily="34" charset="0"/>
              </a:rPr>
              <a:t>확정급여형 퇴직연금제도</a:t>
            </a:r>
            <a:endParaRPr lang="en-US" altLang="ko-KR" sz="900" b="1" dirty="0">
              <a:latin typeface="Arial Narrow" panose="020B0606020202030204" pitchFamily="34" charset="0"/>
            </a:endParaRPr>
          </a:p>
          <a:p>
            <a:pPr algn="r" latinLnBrk="0">
              <a:lnSpc>
                <a:spcPct val="100000"/>
              </a:lnSpc>
            </a:pPr>
            <a:r>
              <a:rPr lang="en-US" altLang="ko-KR" sz="900" b="1" dirty="0">
                <a:latin typeface="Arial Narrow" panose="020B0606020202030204" pitchFamily="34" charset="0"/>
              </a:rPr>
              <a:t>※ DC</a:t>
            </a:r>
            <a:r>
              <a:rPr lang="ko-KR" altLang="en-US" sz="900" b="1">
                <a:latin typeface="Arial Narrow" panose="020B0606020202030204" pitchFamily="34" charset="0"/>
              </a:rPr>
              <a:t>형</a:t>
            </a:r>
            <a:r>
              <a:rPr lang="en-US" altLang="ko-KR" sz="900" b="1" dirty="0">
                <a:latin typeface="Arial Narrow" panose="020B0606020202030204" pitchFamily="34" charset="0"/>
              </a:rPr>
              <a:t>: </a:t>
            </a:r>
            <a:r>
              <a:rPr lang="ko-KR" altLang="en-US" sz="900" b="1">
                <a:latin typeface="Arial Narrow" panose="020B0606020202030204" pitchFamily="34" charset="0"/>
              </a:rPr>
              <a:t>확정기여형 퇴직연금제도</a:t>
            </a:r>
            <a:endParaRPr lang="en-US" altLang="ko-KR" sz="900" b="1" dirty="0">
              <a:latin typeface="Arial Narrow" panose="020B0606020202030204" pitchFamily="34" charset="0"/>
            </a:endParaRPr>
          </a:p>
        </p:txBody>
      </p:sp>
      <p:sp>
        <p:nvSpPr>
          <p:cNvPr id="27" name="제목 1"/>
          <p:cNvSpPr txBox="1">
            <a:spLocks/>
          </p:cNvSpPr>
          <p:nvPr/>
        </p:nvSpPr>
        <p:spPr>
          <a:xfrm>
            <a:off x="1876425" y="90785"/>
            <a:ext cx="4758531" cy="19231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latinLnBrk="0"/>
            <a:r>
              <a:rPr lang="en-US" altLang="ko-KR" sz="1050" b="1" dirty="0">
                <a:solidFill>
                  <a:srgbClr val="C00000"/>
                </a:solidFill>
                <a:latin typeface="Arial Narrow" panose="020B0606020202030204" pitchFamily="34" charset="0"/>
              </a:rPr>
              <a:t>※ </a:t>
            </a:r>
            <a:r>
              <a:rPr lang="ko-KR" altLang="en-US" sz="1050" b="1">
                <a:solidFill>
                  <a:srgbClr val="C00000"/>
                </a:solidFill>
                <a:latin typeface="Arial Narrow" panose="020B0606020202030204" pitchFamily="34" charset="0"/>
              </a:rPr>
              <a:t>본 확인서 자필로 직접 작성 후</a:t>
            </a:r>
            <a:r>
              <a:rPr lang="en-US" altLang="ko-KR" sz="1050" b="1" dirty="0">
                <a:solidFill>
                  <a:srgbClr val="C00000"/>
                </a:solidFill>
                <a:latin typeface="Arial Narrow" panose="020B0606020202030204" pitchFamily="34" charset="0"/>
              </a:rPr>
              <a:t>,</a:t>
            </a:r>
            <a:r>
              <a:rPr lang="ko-KR" altLang="en-US" sz="1050" b="1">
                <a:solidFill>
                  <a:srgbClr val="C00000"/>
                </a:solidFill>
                <a:latin typeface="Arial Narrow" panose="020B0606020202030204" pitchFamily="34" charset="0"/>
              </a:rPr>
              <a:t> 스캔하여 </a:t>
            </a:r>
            <a:r>
              <a:rPr lang="en-US" altLang="ko-KR" sz="1050" b="1" dirty="0">
                <a:solidFill>
                  <a:srgbClr val="C00000"/>
                </a:solidFill>
                <a:latin typeface="Arial Narrow" panose="020B0606020202030204" pitchFamily="34" charset="0"/>
              </a:rPr>
              <a:t>PDF</a:t>
            </a:r>
            <a:r>
              <a:rPr lang="ko-KR" altLang="en-US" sz="1050" b="1">
                <a:solidFill>
                  <a:srgbClr val="C00000"/>
                </a:solidFill>
                <a:latin typeface="Arial Narrow" panose="020B0606020202030204" pitchFamily="34" charset="0"/>
              </a:rPr>
              <a:t>파일로 </a:t>
            </a:r>
            <a:r>
              <a:rPr lang="en-US" altLang="ko-KR" sz="1050" b="1" dirty="0">
                <a:solidFill>
                  <a:srgbClr val="C00000"/>
                </a:solidFill>
                <a:latin typeface="Arial Narrow" panose="020B0606020202030204" pitchFamily="34" charset="0"/>
              </a:rPr>
              <a:t>EP </a:t>
            </a:r>
            <a:r>
              <a:rPr lang="ko-KR" altLang="en-US" sz="1050" b="1">
                <a:solidFill>
                  <a:srgbClr val="C00000"/>
                </a:solidFill>
                <a:latin typeface="Arial Narrow" panose="020B0606020202030204" pitchFamily="34" charset="0"/>
              </a:rPr>
              <a:t>시스템 신청시 업로드 필수</a:t>
            </a:r>
            <a:endParaRPr lang="ko-KR" altLang="en-US" sz="1050" b="1" dirty="0">
              <a:solidFill>
                <a:srgbClr val="C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33" name="제목 1"/>
          <p:cNvSpPr txBox="1">
            <a:spLocks/>
          </p:cNvSpPr>
          <p:nvPr/>
        </p:nvSpPr>
        <p:spPr>
          <a:xfrm>
            <a:off x="5967414" y="9477375"/>
            <a:ext cx="593724" cy="161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1320759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35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latinLnBrk="0">
              <a:lnSpc>
                <a:spcPct val="100000"/>
              </a:lnSpc>
            </a:pPr>
            <a:r>
              <a:rPr lang="en-US" altLang="ko-KR" sz="500" dirty="0">
                <a:latin typeface="Arial Narrow" panose="020B0606020202030204" pitchFamily="34" charset="0"/>
              </a:rPr>
              <a:t>2026. 06. </a:t>
            </a:r>
            <a:r>
              <a:rPr lang="ko-KR" altLang="en-US" sz="500" dirty="0">
                <a:latin typeface="Arial Narrow" panose="020B0606020202030204" pitchFamily="34" charset="0"/>
              </a:rPr>
              <a:t>서식</a:t>
            </a:r>
            <a:endParaRPr lang="en-US" altLang="ko-KR" sz="5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063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G스마트체 Regular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noAutofit/>
      </a:bodyPr>
      <a:lstStyle>
        <a:defPPr algn="ctr">
          <a:defRPr sz="14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1360</TotalTime>
  <Words>430</Words>
  <Application>Microsoft Office PowerPoint</Application>
  <PresentationFormat>A4 용지(210x297mm)</PresentationFormat>
  <Paragraphs>39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LG스마트체 Regular</vt:lpstr>
      <vt:lpstr>맑은 고딕</vt:lpstr>
      <vt:lpstr>Arial</vt:lpstr>
      <vt:lpstr>Arial Narrow</vt:lpstr>
      <vt:lpstr>Calibri</vt:lpstr>
      <vt:lpstr>Office 테마</vt:lpstr>
      <vt:lpstr>퇴직연금 제도 전환 확인서 (DB형→DC형 또는 DC형→DB형)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 현영</dc:creator>
  <cp:lastModifiedBy>황인휘/책임연구원/HS/ES선행(연)Interactive Home Solution Task</cp:lastModifiedBy>
  <cp:revision>154</cp:revision>
  <cp:lastPrinted>2022-02-08T11:26:04Z</cp:lastPrinted>
  <dcterms:created xsi:type="dcterms:W3CDTF">2021-01-27T15:42:35Z</dcterms:created>
  <dcterms:modified xsi:type="dcterms:W3CDTF">2026-06-19T03:14:02Z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2025-05-30T05:17:26Z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1914e4fa-5bd8-4c5a-909a-c1cb0a47c034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테마:8</vt:lpwstr>
  </property>
  <property fmtid="{D5CDD505-2E9C-101B-9397-08002B2CF9AE}" pid="10" name="ClassificationContentMarkingHeaderText">
    <vt:lpwstr>LGE Internal Use Only</vt:lpwstr>
  </property>
</Properties>
</file>