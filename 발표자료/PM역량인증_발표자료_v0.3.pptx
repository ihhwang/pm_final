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D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7759" autoAdjust="0"/>
  </p:normalViewPr>
  <p:slideViewPr>
    <p:cSldViewPr snapToGrid="0">
      <p:cViewPr>
        <p:scale>
          <a:sx n="75" d="100"/>
          <a:sy n="75" d="100"/>
        </p:scale>
        <p:origin x="244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6620D-0010-402B-BBB8-48CEA17F239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3F71C-414E-4C15-A27F-7F84912C79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8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20000"/>
              </a:lnSpc>
            </a:pPr>
            <a:r>
              <a:rPr lang="ko-KR" altLang="en-US" sz="1200" dirty="0"/>
              <a:t>프로젝트 개요</a:t>
            </a:r>
          </a:p>
          <a:p>
            <a:pPr algn="l">
              <a:lnSpc>
                <a:spcPct val="120000"/>
              </a:lnSpc>
            </a:pPr>
            <a:r>
              <a:rPr lang="en-US" altLang="ko-KR" sz="1200" dirty="0"/>
              <a:t>2.</a:t>
            </a:r>
            <a:r>
              <a:rPr lang="ko-KR" altLang="en-US" sz="1200" dirty="0"/>
              <a:t>프로젝트 관리현황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200" dirty="0"/>
              <a:t>▪요구사항</a:t>
            </a:r>
            <a:r>
              <a:rPr lang="en-US" altLang="ko-KR" sz="1200" dirty="0"/>
              <a:t>_</a:t>
            </a:r>
            <a:r>
              <a:rPr lang="ko-KR" altLang="en-US" sz="1200" dirty="0"/>
              <a:t>정합성</a:t>
            </a:r>
            <a:r>
              <a:rPr lang="en-US" altLang="ko-KR" sz="1200" dirty="0"/>
              <a:t>/</a:t>
            </a:r>
            <a:r>
              <a:rPr lang="ko-KR" altLang="en-US" sz="1200" dirty="0"/>
              <a:t>추적성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200" dirty="0"/>
              <a:t>▪</a:t>
            </a:r>
            <a:r>
              <a:rPr lang="en-US" altLang="ko-KR" sz="1200" dirty="0"/>
              <a:t>Release</a:t>
            </a:r>
            <a:r>
              <a:rPr lang="ko-KR" altLang="en-US" sz="1200" dirty="0"/>
              <a:t>계획</a:t>
            </a:r>
            <a:r>
              <a:rPr lang="en-US" altLang="ko-KR" sz="1200" dirty="0"/>
              <a:t>_</a:t>
            </a:r>
            <a:r>
              <a:rPr lang="ko-KR" altLang="en-US" sz="1200" dirty="0"/>
              <a:t>계획수립</a:t>
            </a:r>
            <a:r>
              <a:rPr lang="en-US" altLang="ko-KR" sz="1200" dirty="0"/>
              <a:t>/</a:t>
            </a:r>
            <a:r>
              <a:rPr lang="ko-KR" altLang="en-US" sz="1200" dirty="0"/>
              <a:t>통합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200" dirty="0"/>
              <a:t>▪프로젝트</a:t>
            </a:r>
            <a:r>
              <a:rPr lang="en-US" altLang="ko-KR" sz="1200" dirty="0"/>
              <a:t> Dashboard_</a:t>
            </a:r>
            <a:r>
              <a:rPr lang="ko-KR" altLang="en-US" sz="1200" dirty="0"/>
              <a:t>현재</a:t>
            </a:r>
            <a:r>
              <a:rPr lang="en-US" altLang="ko-KR" sz="1200" dirty="0"/>
              <a:t>/</a:t>
            </a:r>
            <a:r>
              <a:rPr lang="ko-KR" altLang="en-US" sz="1200" dirty="0"/>
              <a:t>미래예측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200" dirty="0"/>
              <a:t>▪프로젝트 소통과 협업</a:t>
            </a:r>
            <a:r>
              <a:rPr lang="en-US" altLang="ko-KR" sz="1200" dirty="0"/>
              <a:t>_</a:t>
            </a:r>
            <a:r>
              <a:rPr lang="ko-KR" altLang="en-US" sz="1200" dirty="0"/>
              <a:t>정보 배포</a:t>
            </a:r>
            <a:r>
              <a:rPr lang="en-US" altLang="ko-KR" sz="1200" dirty="0"/>
              <a:t>/</a:t>
            </a:r>
            <a:r>
              <a:rPr lang="ko-KR" altLang="en-US" sz="1200" dirty="0"/>
              <a:t>이해관계자 참여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200" dirty="0"/>
              <a:t>▪프로젝트 선순환 구조</a:t>
            </a:r>
            <a:r>
              <a:rPr lang="en-US" altLang="ko-KR" sz="1200" dirty="0"/>
              <a:t>_</a:t>
            </a:r>
            <a:r>
              <a:rPr lang="ko-KR" altLang="en-US" sz="1200" dirty="0"/>
              <a:t>종료</a:t>
            </a:r>
            <a:r>
              <a:rPr lang="en-US" altLang="ko-KR" sz="1200" dirty="0"/>
              <a:t>/</a:t>
            </a:r>
            <a:r>
              <a:rPr lang="ko-KR" altLang="en-US" sz="1200" dirty="0"/>
              <a:t>교훈</a:t>
            </a:r>
            <a:r>
              <a:rPr lang="en-US" altLang="ko-KR" sz="1200" dirty="0"/>
              <a:t>-</a:t>
            </a:r>
            <a:r>
              <a:rPr lang="ko-KR" altLang="en-US" sz="1200" dirty="0"/>
              <a:t>회고</a:t>
            </a:r>
          </a:p>
          <a:p>
            <a:pPr algn="l">
              <a:lnSpc>
                <a:spcPct val="120000"/>
              </a:lnSpc>
            </a:pPr>
            <a:r>
              <a:rPr lang="en-US" altLang="ko-KR" sz="1200" dirty="0"/>
              <a:t>3.</a:t>
            </a:r>
            <a:r>
              <a:rPr lang="ko-KR" altLang="en-US" sz="1200" dirty="0"/>
              <a:t>종합</a:t>
            </a:r>
            <a:endParaRPr lang="en-US" altLang="ko-KR" sz="1200" dirty="0"/>
          </a:p>
          <a:p>
            <a:pPr algn="l">
              <a:lnSpc>
                <a:spcPct val="120000"/>
              </a:lnSpc>
            </a:pPr>
            <a:r>
              <a:rPr lang="en-US" altLang="ko-KR" sz="1200" dirty="0"/>
              <a:t>4. </a:t>
            </a:r>
            <a:r>
              <a:rPr lang="ko-KR" altLang="en-US" sz="1200" dirty="0"/>
              <a:t>소감 및 제언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F71C-414E-4C15-A27F-7F84912C799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55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활동과 </a:t>
            </a:r>
            <a:r>
              <a:rPr lang="en-US" altLang="ko-KR" dirty="0"/>
              <a:t>ppt</a:t>
            </a:r>
            <a:r>
              <a:rPr lang="ko-KR" altLang="en-US" dirty="0"/>
              <a:t>의 </a:t>
            </a:r>
            <a:r>
              <a:rPr lang="en-US" altLang="ko-KR" dirty="0"/>
              <a:t>align</a:t>
            </a:r>
            <a:r>
              <a:rPr lang="ko-KR" altLang="en-US" dirty="0"/>
              <a:t>을 다시 점검할 것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Jira </a:t>
            </a:r>
            <a:r>
              <a:rPr lang="ko-KR" altLang="en-US" dirty="0"/>
              <a:t>관련 내용을 어떻게 추가할 것인지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Good/bad</a:t>
            </a:r>
            <a:r>
              <a:rPr lang="ko-KR" altLang="en-US" dirty="0"/>
              <a:t> 그 이상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F71C-414E-4C15-A27F-7F84912C799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236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3F71C-414E-4C15-A27F-7F84912C799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16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8213C-C838-939F-0D48-08A8267F2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375" y="398443"/>
            <a:ext cx="9144000" cy="1156986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AFFFC5-5ABC-6D3D-B257-3B0E67792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016" y="2637774"/>
            <a:ext cx="9144000" cy="25701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D198D608-64E5-8D92-17DA-C44244CE5DFC}"/>
              </a:ext>
            </a:extLst>
          </p:cNvPr>
          <p:cNvSpPr txBox="1">
            <a:spLocks/>
          </p:cNvSpPr>
          <p:nvPr userDrawn="1"/>
        </p:nvSpPr>
        <p:spPr>
          <a:xfrm>
            <a:off x="1475657" y="5542915"/>
            <a:ext cx="9144000" cy="1015682"/>
          </a:xfrm>
        </p:spPr>
        <p:txBody>
          <a:bodyPr/>
          <a:lstStyle>
            <a:lvl1pPr marL="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1600" kern="0" dirty="0">
                <a:latin typeface="+mn-ea"/>
                <a:ea typeface="+mn-ea"/>
              </a:rPr>
              <a:t>2026.06.25</a:t>
            </a:r>
          </a:p>
          <a:p>
            <a:r>
              <a:rPr lang="en-US" altLang="ko-KR" sz="1600" kern="0" dirty="0">
                <a:latin typeface="+mn-ea"/>
                <a:ea typeface="+mn-ea"/>
              </a:rPr>
              <a:t>HS/ES</a:t>
            </a:r>
            <a:r>
              <a:rPr lang="ko-KR" altLang="en-US" sz="1600" kern="0" dirty="0">
                <a:latin typeface="+mn-ea"/>
                <a:ea typeface="+mn-ea"/>
              </a:rPr>
              <a:t>선행</a:t>
            </a:r>
            <a:r>
              <a:rPr lang="en-US" altLang="ko-KR" sz="1600" kern="0" dirty="0">
                <a:latin typeface="+mn-ea"/>
                <a:ea typeface="+mn-ea"/>
              </a:rPr>
              <a:t>(</a:t>
            </a:r>
            <a:r>
              <a:rPr lang="ko-KR" altLang="en-US" sz="1600" kern="0" dirty="0">
                <a:latin typeface="+mn-ea"/>
                <a:ea typeface="+mn-ea"/>
              </a:rPr>
              <a:t>연</a:t>
            </a:r>
            <a:r>
              <a:rPr lang="en-US" altLang="ko-KR" sz="1600" kern="0" dirty="0">
                <a:latin typeface="+mn-ea"/>
                <a:ea typeface="+mn-ea"/>
              </a:rPr>
              <a:t>) Interactive Home Solution Task </a:t>
            </a:r>
          </a:p>
          <a:p>
            <a:r>
              <a:rPr lang="ko-KR" altLang="en-US" sz="1600" kern="0" dirty="0" err="1">
                <a:latin typeface="+mn-ea"/>
                <a:ea typeface="+mn-ea"/>
              </a:rPr>
              <a:t>황인휘</a:t>
            </a:r>
            <a:r>
              <a:rPr lang="ko-KR" altLang="en-US" sz="1600" kern="0" dirty="0">
                <a:latin typeface="+mn-ea"/>
                <a:ea typeface="+mn-ea"/>
              </a:rPr>
              <a:t> 책임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AF5A0F7-EB6C-E744-7C52-A88995681E5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486581" y="1650064"/>
            <a:ext cx="9122153" cy="0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6238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648" y="113356"/>
            <a:ext cx="7140954" cy="362737"/>
          </a:xfrm>
          <a:prstGeom prst="rect">
            <a:avLst/>
          </a:prstGeom>
        </p:spPr>
        <p:txBody>
          <a:bodyPr/>
          <a:lstStyle>
            <a:lvl1pPr>
              <a:defRPr lang="en-US" dirty="0">
                <a:latin typeface="Arial Narrow" panose="020B0606020202030204" pitchFamily="34" charset="0"/>
                <a:cs typeface="Arial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649" y="533401"/>
            <a:ext cx="11538705" cy="6010983"/>
          </a:xfrm>
          <a:prstGeom prst="rect">
            <a:avLst/>
          </a:prstGeom>
        </p:spPr>
        <p:txBody>
          <a:bodyPr/>
          <a:lstStyle>
            <a:lvl1pPr marL="182563" indent="-182563">
              <a:lnSpc>
                <a:spcPct val="120000"/>
              </a:lnSpc>
              <a:buFont typeface="Wingdings" panose="05000000000000000000" pitchFamily="2" charset="2"/>
              <a:buChar char="§"/>
              <a:defRPr sz="1400"/>
            </a:lvl1pPr>
            <a:lvl2pPr marL="449263" indent="-182563">
              <a:lnSpc>
                <a:spcPct val="120000"/>
              </a:lnSpc>
              <a:defRPr sz="1200"/>
            </a:lvl2pPr>
            <a:lvl3pPr marL="715963" indent="-138113">
              <a:lnSpc>
                <a:spcPct val="120000"/>
              </a:lnSpc>
              <a:defRPr sz="1100"/>
            </a:lvl3pPr>
            <a:lvl4pPr marL="982663" indent="-134938">
              <a:lnSpc>
                <a:spcPct val="120000"/>
              </a:lnSpc>
              <a:defRPr sz="1100"/>
            </a:lvl4pPr>
            <a:lvl5pPr marL="1165225" indent="-138113">
              <a:lnSpc>
                <a:spcPct val="120000"/>
              </a:lnSpc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6647" y="6658684"/>
            <a:ext cx="2743200" cy="177093"/>
          </a:xfrm>
          <a:prstGeom prst="rect">
            <a:avLst/>
          </a:prstGeom>
        </p:spPr>
        <p:txBody>
          <a:bodyPr anchor="b"/>
          <a:lstStyle>
            <a:lvl1pPr>
              <a:defRPr 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1" y="6658684"/>
            <a:ext cx="2743200" cy="177093"/>
          </a:xfrm>
          <a:prstGeom prst="rect">
            <a:avLst/>
          </a:prstGeom>
        </p:spPr>
        <p:txBody>
          <a:bodyPr anchor="b"/>
          <a:lstStyle>
            <a:lvl1pPr algn="ctr">
              <a:defRPr lang="ko-KR" alt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fld id="{DF7A7347-9857-4209-AF29-C75A73D2E9B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995138" y="112714"/>
            <a:ext cx="3870570" cy="3635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56C613-E62A-BB8E-BF55-B1189A65F22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6647" y="507897"/>
            <a:ext cx="11538707" cy="0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898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648" y="113356"/>
            <a:ext cx="7140954" cy="362737"/>
          </a:xfrm>
          <a:prstGeom prst="rect">
            <a:avLst/>
          </a:prstGeom>
        </p:spPr>
        <p:txBody>
          <a:bodyPr/>
          <a:lstStyle>
            <a:lvl1pPr>
              <a:defRPr lang="en-US" dirty="0">
                <a:latin typeface="Arial Narrow" panose="020B0606020202030204" pitchFamily="34" charset="0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6647" y="6658684"/>
            <a:ext cx="2743200" cy="177093"/>
          </a:xfrm>
          <a:prstGeom prst="rect">
            <a:avLst/>
          </a:prstGeom>
        </p:spPr>
        <p:txBody>
          <a:bodyPr anchor="b"/>
          <a:lstStyle>
            <a:lvl1pPr>
              <a:defRPr 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1" y="6658684"/>
            <a:ext cx="2743200" cy="177093"/>
          </a:xfrm>
          <a:prstGeom prst="rect">
            <a:avLst/>
          </a:prstGeom>
        </p:spPr>
        <p:txBody>
          <a:bodyPr anchor="b"/>
          <a:lstStyle>
            <a:lvl1pPr algn="ctr">
              <a:defRPr lang="ko-KR" alt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fld id="{DF7A7347-9857-4209-AF29-C75A73D2E9B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4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43031" y="6386473"/>
            <a:ext cx="1195530" cy="421758"/>
          </a:xfrm>
          <a:prstGeom prst="rect">
            <a:avLst/>
          </a:prstGeom>
          <a:noFill/>
        </p:spPr>
      </p:pic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995138" y="112714"/>
            <a:ext cx="3870570" cy="3635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56C613-E62A-BB8E-BF55-B1189A65F22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6647" y="507897"/>
            <a:ext cx="11538707" cy="0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89641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6647" y="6658684"/>
            <a:ext cx="2743200" cy="177093"/>
          </a:xfrm>
          <a:prstGeom prst="rect">
            <a:avLst/>
          </a:prstGeom>
        </p:spPr>
        <p:txBody>
          <a:bodyPr anchor="b"/>
          <a:lstStyle>
            <a:lvl1pPr>
              <a:defRPr 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1" y="6658684"/>
            <a:ext cx="2743200" cy="177093"/>
          </a:xfrm>
          <a:prstGeom prst="rect">
            <a:avLst/>
          </a:prstGeom>
        </p:spPr>
        <p:txBody>
          <a:bodyPr anchor="b"/>
          <a:lstStyle>
            <a:lvl1pPr algn="ctr">
              <a:defRPr lang="ko-KR" alt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fld id="{DF7A7347-9857-4209-AF29-C75A73D2E9B4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14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43031" y="6386473"/>
            <a:ext cx="1195530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178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EF00B7-6BBC-19F2-8F72-28B0BFDE1D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0286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5" r:id="rId3"/>
    <p:sldLayoutId id="2147483666" r:id="rId4"/>
  </p:sldLayoutIdLst>
  <p:hf hdr="0" ftr="0" dt="0"/>
  <p:txStyles>
    <p:titleStyle>
      <a:lvl1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342082" algn="l" rtl="0" eaLnBrk="1" fontAlgn="base" latinLnBrk="1" hangingPunct="1">
        <a:spcBef>
          <a:spcPct val="0"/>
        </a:spcBef>
        <a:spcAft>
          <a:spcPct val="0"/>
        </a:spcAft>
        <a:defRPr kumimoji="1" sz="1500" b="1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684163" algn="l" rtl="0" eaLnBrk="1" fontAlgn="base" latinLnBrk="1" hangingPunct="1">
        <a:spcBef>
          <a:spcPct val="0"/>
        </a:spcBef>
        <a:spcAft>
          <a:spcPct val="0"/>
        </a:spcAft>
        <a:defRPr kumimoji="1" sz="1500" b="1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026243" algn="l" rtl="0" eaLnBrk="1" fontAlgn="base" latinLnBrk="1" hangingPunct="1">
        <a:spcBef>
          <a:spcPct val="0"/>
        </a:spcBef>
        <a:spcAft>
          <a:spcPct val="0"/>
        </a:spcAft>
        <a:defRPr kumimoji="1" sz="1500" b="1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368325" algn="l" rtl="0" eaLnBrk="1" fontAlgn="base" latinLnBrk="1" hangingPunct="1">
        <a:spcBef>
          <a:spcPct val="0"/>
        </a:spcBef>
        <a:spcAft>
          <a:spcPct val="0"/>
        </a:spcAft>
        <a:defRPr kumimoji="1" sz="1500" b="1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39725" indent="-339725" algn="l" defTabSz="1222375" rtl="0" eaLnBrk="1" fontAlgn="base" latinLnBrk="1" hangingPunct="1">
        <a:spcBef>
          <a:spcPct val="20000"/>
        </a:spcBef>
        <a:spcAft>
          <a:spcPct val="0"/>
        </a:spcAft>
        <a:defRPr kumimoji="1" sz="16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0988" algn="l" defTabSz="1222375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2pPr>
      <a:lvl3pPr marL="1139825" indent="-225425" algn="l" defTabSz="1222375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597025" indent="-227013" algn="l" defTabSz="1222375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52638" indent="-223838" algn="l" defTabSz="1222375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1881446" indent="-17104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223528" indent="-17104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565609" indent="-17104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2907690" indent="-17104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082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63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6243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8325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406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2487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4568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6649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ollab.lge.com/main/spaces/~irene.hwang/pages/3649495694/25_+SmartPlug+_On-Device+AI+Hub%EB%A5%BC+%EC%9C%84%ED%95%9C+%EC%8A%A4%EB%A7%88%ED%8A%B8+%ED%94%8C%EB%9F%AC%EA%B7%B8+PoC+%EA%B0%9C%EB%B0%9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C0B92-0D7F-6D28-AE41-9C093BFE8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1951" y="812262"/>
            <a:ext cx="9144000" cy="139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 sz="3000" i="0" dirty="0">
                <a:solidFill>
                  <a:srgbClr val="172B4D"/>
                </a:solidFill>
                <a:effectLst/>
                <a:latin typeface="-apple-system"/>
              </a:rPr>
              <a:t>On-Device AI Hub</a:t>
            </a:r>
            <a:r>
              <a:rPr lang="ko-KR" altLang="en-US" sz="3000" i="0" dirty="0">
                <a:solidFill>
                  <a:srgbClr val="172B4D"/>
                </a:solidFill>
                <a:effectLst/>
                <a:latin typeface="-apple-system"/>
              </a:rPr>
              <a:t>를 위한 스마트 플러그 </a:t>
            </a:r>
            <a:r>
              <a:rPr lang="en-US" altLang="ko-KR" sz="3000" i="0" dirty="0">
                <a:solidFill>
                  <a:srgbClr val="172B4D"/>
                </a:solidFill>
                <a:effectLst/>
                <a:latin typeface="-apple-system"/>
              </a:rPr>
              <a:t>PoC </a:t>
            </a:r>
            <a:r>
              <a:rPr lang="ko-KR" altLang="en-US" sz="3000" i="0" dirty="0">
                <a:solidFill>
                  <a:srgbClr val="172B4D"/>
                </a:solidFill>
                <a:effectLst/>
                <a:latin typeface="-apple-system"/>
              </a:rPr>
              <a:t>개발 보고</a:t>
            </a:r>
            <a:br>
              <a:rPr lang="en-US" altLang="ko-KR" sz="2400" i="0" dirty="0">
                <a:solidFill>
                  <a:srgbClr val="172B4D"/>
                </a:solidFill>
                <a:effectLst/>
                <a:latin typeface="-apple-system"/>
              </a:rPr>
            </a:br>
            <a:r>
              <a:rPr lang="en-US" altLang="ko-KR" sz="2000" b="0" i="0" dirty="0">
                <a:solidFill>
                  <a:srgbClr val="172B4D"/>
                </a:solidFill>
                <a:effectLst/>
                <a:latin typeface="-apple-system"/>
              </a:rPr>
              <a:t>LG SW PM</a:t>
            </a:r>
            <a:r>
              <a:rPr lang="ko-KR" altLang="en-US" sz="2000" b="0" i="0" dirty="0">
                <a:solidFill>
                  <a:srgbClr val="172B4D"/>
                </a:solidFill>
                <a:effectLst/>
                <a:latin typeface="-apple-system"/>
              </a:rPr>
              <a:t>역량정의서 기반 프로젝트관리 수행 사례</a:t>
            </a:r>
            <a:endParaRPr lang="ko-KR" altLang="en-US" sz="2000" b="0" i="0" dirty="0">
              <a:solidFill>
                <a:srgbClr val="172B4D"/>
              </a:solidFill>
              <a:effectLst/>
              <a:latin typeface="-apple-system"/>
              <a:hlinkClick r:id="rId3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CC2124-E8EF-1C16-0984-3BAE83F3A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8635" y="2717140"/>
            <a:ext cx="3150632" cy="1752599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ko-KR" sz="2000" b="1" dirty="0"/>
              <a:t>1.</a:t>
            </a:r>
            <a:r>
              <a:rPr lang="ko-KR" altLang="en-US" sz="2000" b="1" dirty="0"/>
              <a:t> 개요</a:t>
            </a:r>
          </a:p>
          <a:p>
            <a:pPr algn="l">
              <a:lnSpc>
                <a:spcPct val="150000"/>
              </a:lnSpc>
            </a:pPr>
            <a:r>
              <a:rPr lang="en-US" altLang="ko-KR" sz="2000" b="1" dirty="0"/>
              <a:t>2.</a:t>
            </a:r>
            <a:r>
              <a:rPr lang="ko-KR" altLang="en-US" sz="2000" b="1" dirty="0"/>
              <a:t> 관리현황</a:t>
            </a:r>
            <a:endParaRPr lang="en-US" altLang="ko-KR" sz="2000" b="1" dirty="0"/>
          </a:p>
          <a:p>
            <a:pPr algn="l">
              <a:lnSpc>
                <a:spcPct val="150000"/>
              </a:lnSpc>
            </a:pPr>
            <a:r>
              <a:rPr lang="en-US" altLang="ko-KR" sz="2000" b="1" dirty="0"/>
              <a:t>3. </a:t>
            </a:r>
            <a:r>
              <a:rPr lang="ko-KR" altLang="en-US" sz="2000" b="1" dirty="0"/>
              <a:t>종합</a:t>
            </a:r>
            <a:endParaRPr lang="en-US" altLang="ko-KR" sz="2000" b="1" dirty="0"/>
          </a:p>
          <a:p>
            <a:pPr algn="l">
              <a:lnSpc>
                <a:spcPct val="150000"/>
              </a:lnSpc>
            </a:pPr>
            <a:r>
              <a:rPr lang="en-US" altLang="ko-KR" sz="2000" b="1" dirty="0"/>
              <a:t>4. </a:t>
            </a:r>
            <a:r>
              <a:rPr lang="ko-KR" altLang="en-US" sz="2000" b="1" dirty="0"/>
              <a:t>소감 및 제언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73600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36A11-4512-F26D-3D19-082483F99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On-Device AI Hub</a:t>
            </a:r>
            <a:r>
              <a:rPr lang="ko-KR" altLang="en-US" dirty="0"/>
              <a:t>를 위한 스마트 플러그 </a:t>
            </a:r>
            <a:r>
              <a:rPr lang="en-US" altLang="ko-KR" dirty="0"/>
              <a:t>PoC </a:t>
            </a:r>
            <a:r>
              <a:rPr lang="ko-KR" altLang="en-US" dirty="0"/>
              <a:t>개발 </a:t>
            </a:r>
          </a:p>
        </p:txBody>
      </p:sp>
      <p:graphicFrame>
        <p:nvGraphicFramePr>
          <p:cNvPr id="19" name="내용 개체 틀 18">
            <a:extLst>
              <a:ext uri="{FF2B5EF4-FFF2-40B4-BE49-F238E27FC236}">
                <a16:creationId xmlns:a16="http://schemas.microsoft.com/office/drawing/2014/main" id="{4063A6BF-509D-2312-55F4-C2E23887B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908804"/>
              </p:ext>
            </p:extLst>
          </p:nvPr>
        </p:nvGraphicFramePr>
        <p:xfrm>
          <a:off x="326470" y="634625"/>
          <a:ext cx="11520000" cy="5143800"/>
        </p:xfrm>
        <a:graphic>
          <a:graphicData uri="http://schemas.openxmlformats.org/drawingml/2006/table">
            <a:tbl>
              <a:tblPr/>
              <a:tblGrid>
                <a:gridCol w="1372838">
                  <a:extLst>
                    <a:ext uri="{9D8B030D-6E8A-4147-A177-3AD203B41FA5}">
                      <a16:colId xmlns:a16="http://schemas.microsoft.com/office/drawing/2014/main" val="1525258834"/>
                    </a:ext>
                  </a:extLst>
                </a:gridCol>
                <a:gridCol w="10147162">
                  <a:extLst>
                    <a:ext uri="{9D8B030D-6E8A-4147-A177-3AD203B41FA5}">
                      <a16:colId xmlns:a16="http://schemas.microsoft.com/office/drawing/2014/main" val="1881182499"/>
                    </a:ext>
                  </a:extLst>
                </a:gridCol>
              </a:tblGrid>
              <a:tr h="419246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과제명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300" dirty="0"/>
                        <a:t>On-Device AI Hub</a:t>
                      </a:r>
                      <a:r>
                        <a:rPr lang="ko-KR" altLang="en-US" sz="1300" dirty="0"/>
                        <a:t>를 위한 스마트 플러그 </a:t>
                      </a:r>
                      <a:r>
                        <a:rPr lang="en-US" altLang="ko-KR" sz="1300" dirty="0"/>
                        <a:t>PoC </a:t>
                      </a:r>
                      <a:r>
                        <a:rPr lang="ko-KR" altLang="en-US" sz="1300" dirty="0"/>
                        <a:t>개발 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757748"/>
                  </a:ext>
                </a:extLst>
              </a:tr>
              <a:tr h="135537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목표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단일 홈 허브가 주택</a:t>
                      </a:r>
                      <a:r>
                        <a:rPr lang="en-US" altLang="ko-KR" sz="1300" dirty="0"/>
                        <a:t>/</a:t>
                      </a:r>
                      <a:r>
                        <a:rPr lang="ko-KR" altLang="en-US" sz="1300" dirty="0"/>
                        <a:t>건물 내에서 실제로 사용 가능한 물리적 공간 확장을 가능하게 하는 악세서리 기기의 </a:t>
                      </a:r>
                      <a:r>
                        <a:rPr lang="en-US" altLang="ko-KR" sz="1300" dirty="0"/>
                        <a:t>SW</a:t>
                      </a:r>
                      <a:r>
                        <a:rPr lang="ko-KR" altLang="en-US" sz="1300" dirty="0"/>
                        <a:t>를 개발하고 이를 </a:t>
                      </a:r>
                      <a:r>
                        <a:rPr lang="en-US" altLang="ko-KR" sz="1300" dirty="0"/>
                        <a:t>On-Device AI Hub</a:t>
                      </a:r>
                      <a:r>
                        <a:rPr lang="ko-KR" altLang="en-US" sz="1300" dirty="0"/>
                        <a:t>와 연동하여 최소한의 실제 동작을 시연함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악세서리 기기는 전원 공급의 용이성 및 음성 명령을 중심으로 한 기존 홈 허브의 사용성을 고려하여 전원 플러그 형태로 개발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이하 스마트 플러그 또는 플러그로 칭함</a:t>
                      </a:r>
                      <a:r>
                        <a:rPr lang="en-US" altLang="ko-KR" sz="1300" dirty="0"/>
                        <a:t>)</a:t>
                      </a:r>
                      <a:r>
                        <a:rPr lang="ko-KR" altLang="en-US" sz="1300" dirty="0"/>
                        <a:t>하는 것을 전제하며</a:t>
                      </a:r>
                      <a:r>
                        <a:rPr lang="en-US" altLang="ko-KR" sz="1300" dirty="0"/>
                        <a:t>, On-</a:t>
                      </a:r>
                      <a:r>
                        <a:rPr lang="en-US" altLang="ko-KR" sz="1300" dirty="0" err="1"/>
                        <a:t>Devce</a:t>
                      </a:r>
                      <a:r>
                        <a:rPr lang="en-US" altLang="ko-KR" sz="1300" dirty="0"/>
                        <a:t> AI Hub HW </a:t>
                      </a:r>
                      <a:r>
                        <a:rPr lang="ko-KR" altLang="en-US" sz="1300" dirty="0"/>
                        <a:t>개발 </a:t>
                      </a:r>
                      <a:r>
                        <a:rPr lang="en-US" altLang="ko-KR" sz="1300" dirty="0"/>
                        <a:t>Task</a:t>
                      </a:r>
                      <a:r>
                        <a:rPr lang="ko-KR" altLang="en-US" sz="1300" dirty="0"/>
                        <a:t>에서 별도로 진행함</a:t>
                      </a:r>
                      <a:endParaRPr lang="en-US" altLang="ko-KR" sz="1300" dirty="0"/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573768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기간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effectLst/>
                        </a:rPr>
                        <a:t>2025.04.01 ~ 2025.12.10 (</a:t>
                      </a:r>
                      <a:r>
                        <a:rPr lang="ko-KR" altLang="en-US" sz="1300" dirty="0">
                          <a:effectLst/>
                        </a:rPr>
                        <a:t>계획 대비 </a:t>
                      </a:r>
                      <a:r>
                        <a:rPr lang="en-US" altLang="ko-KR" sz="1300" dirty="0">
                          <a:effectLst/>
                        </a:rPr>
                        <a:t>2</a:t>
                      </a:r>
                      <a:r>
                        <a:rPr lang="ko-KR" altLang="en-US" sz="1300" dirty="0">
                          <a:effectLst/>
                        </a:rPr>
                        <a:t>주 연장</a:t>
                      </a:r>
                      <a:r>
                        <a:rPr lang="en-US" altLang="ko-KR" sz="1300" dirty="0">
                          <a:effectLst/>
                        </a:rPr>
                        <a:t>)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624348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인원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상근 </a:t>
                      </a:r>
                      <a:r>
                        <a:rPr lang="en-US" altLang="ko-KR" sz="1300" dirty="0"/>
                        <a:t>4</a:t>
                      </a:r>
                      <a:r>
                        <a:rPr lang="ko-KR" altLang="en-US" sz="1300" dirty="0"/>
                        <a:t>명</a:t>
                      </a:r>
                      <a:r>
                        <a:rPr lang="en-US" altLang="ko-KR" sz="1300" baseline="30000" dirty="0"/>
                        <a:t>*(</a:t>
                      </a:r>
                      <a:r>
                        <a:rPr lang="en-US" altLang="ko-KR" sz="1300" dirty="0"/>
                        <a:t>PL1 + SW</a:t>
                      </a:r>
                      <a:r>
                        <a:rPr lang="ko-KR" altLang="en-US" sz="1300" dirty="0"/>
                        <a:t>개발 </a:t>
                      </a:r>
                      <a:r>
                        <a:rPr lang="en-US" altLang="ko-KR" sz="1300" dirty="0"/>
                        <a:t>3), </a:t>
                      </a:r>
                      <a:r>
                        <a:rPr lang="ko-KR" altLang="en-US" sz="1300" dirty="0"/>
                        <a:t>비상근 </a:t>
                      </a:r>
                      <a:r>
                        <a:rPr lang="en-US" altLang="ko-KR" sz="1300" dirty="0"/>
                        <a:t>3</a:t>
                      </a:r>
                      <a:r>
                        <a:rPr lang="ko-KR" altLang="en-US" sz="1300" dirty="0"/>
                        <a:t>명 </a:t>
                      </a:r>
                      <a:r>
                        <a:rPr lang="en-US" altLang="ko-KR" sz="1300" dirty="0"/>
                        <a:t>/ </a:t>
                      </a:r>
                      <a:r>
                        <a:rPr lang="ko-KR" altLang="en-US" sz="1300" dirty="0"/>
                        <a:t>총 </a:t>
                      </a:r>
                      <a:r>
                        <a:rPr lang="en-US" altLang="ko-KR" sz="1300" dirty="0"/>
                        <a:t>23MM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84714"/>
                  </a:ext>
                </a:extLst>
              </a:tr>
              <a:tr h="495232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고객 가치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/>
                        <a:t>홈 허브의 위치를 옮기거나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여러개의 허브를 구입하지 않고 간단한 악세서리를 추가함으로써 집 안 어디서나 홈 허브의 기능을 사용할 수 있다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433505"/>
                  </a:ext>
                </a:extLst>
              </a:tr>
              <a:tr h="161621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사업적 가치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본 과제는 </a:t>
                      </a:r>
                      <a:r>
                        <a:rPr lang="en-US" altLang="ko-KR" sz="1300" dirty="0"/>
                        <a:t>PoC </a:t>
                      </a:r>
                      <a:r>
                        <a:rPr lang="ko-KR" altLang="en-US" sz="1300" dirty="0"/>
                        <a:t>목적의 과제로 사업적 가치를 직접적으로 언급하기는 무리가 있으나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향후 홈 허브 사업이 일정 규모를 이루게 되는 경우 이 과제를 확장함으로써 다음을 달성할 수 있다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dirty="0"/>
                        <a:t>홈 허브 패키지의 가격 경쟁력 확보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시장 확대 가속화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dirty="0"/>
                        <a:t>분산형 </a:t>
                      </a:r>
                      <a:r>
                        <a:rPr lang="en-US" altLang="ko-KR" sz="1300" dirty="0"/>
                        <a:t>AI </a:t>
                      </a:r>
                      <a:r>
                        <a:rPr lang="ko-KR" altLang="en-US" sz="1300" dirty="0" err="1"/>
                        <a:t>홈허브</a:t>
                      </a:r>
                      <a:r>
                        <a:rPr lang="ko-KR" altLang="en-US" sz="1300" dirty="0"/>
                        <a:t> 인프라 구축을 통한 </a:t>
                      </a:r>
                      <a:r>
                        <a:rPr lang="en-US" altLang="ko-KR" sz="1300" dirty="0"/>
                        <a:t>AI </a:t>
                      </a:r>
                      <a:r>
                        <a:rPr lang="ko-KR" altLang="en-US" sz="1300" dirty="0"/>
                        <a:t>인프라 비용 절감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300" dirty="0" err="1"/>
                        <a:t>ThinQ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가전 연계를 통한 </a:t>
                      </a:r>
                      <a:r>
                        <a:rPr lang="en-US" altLang="ko-KR" sz="1300" dirty="0" err="1"/>
                        <a:t>ThinQ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생태계 확대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563140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과제 진행 관리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/>
                        <a:t>Collab / Waterfall </a:t>
                      </a:r>
                      <a:r>
                        <a:rPr lang="ko-KR" altLang="en-US" sz="1300" dirty="0"/>
                        <a:t>방식 진행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290701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D78097-711B-5310-71C1-5E5B85AE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AB091D1-B104-B819-CB2C-946D0ACEB2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프로젝트 개요</a:t>
            </a:r>
          </a:p>
        </p:txBody>
      </p:sp>
      <p:sp>
        <p:nvSpPr>
          <p:cNvPr id="20" name="내용 개체 틀 6">
            <a:extLst>
              <a:ext uri="{FF2B5EF4-FFF2-40B4-BE49-F238E27FC236}">
                <a16:creationId xmlns:a16="http://schemas.microsoft.com/office/drawing/2014/main" id="{32DDD892-9A73-DF50-F007-E0ED92A0F756}"/>
              </a:ext>
            </a:extLst>
          </p:cNvPr>
          <p:cNvSpPr txBox="1">
            <a:spLocks/>
          </p:cNvSpPr>
          <p:nvPr/>
        </p:nvSpPr>
        <p:spPr>
          <a:xfrm>
            <a:off x="326649" y="5778425"/>
            <a:ext cx="11538705" cy="765959"/>
          </a:xfrm>
          <a:prstGeom prst="rect">
            <a:avLst/>
          </a:prstGeom>
        </p:spPr>
        <p:txBody>
          <a:bodyPr/>
          <a:lstStyle>
            <a:lvl1pPr marL="182563" indent="-182563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182563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715963" indent="-138113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3pPr>
            <a:lvl4pPr marL="982663" indent="-134938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4pPr>
            <a:lvl5pPr marL="1165225" indent="-138113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5pPr>
            <a:lvl6pPr marL="1881446" indent="-17104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2223528" indent="-17104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2565609" indent="-17104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907690" indent="-17104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kern="0" dirty="0"/>
              <a:t>본 과제는 탐색과제로써</a:t>
            </a:r>
            <a:r>
              <a:rPr lang="en-US" altLang="ko-KR" kern="0" dirty="0"/>
              <a:t>, </a:t>
            </a:r>
            <a:r>
              <a:rPr lang="ko-KR" altLang="en-US" kern="0" dirty="0"/>
              <a:t>공식적인 </a:t>
            </a:r>
            <a:r>
              <a:rPr lang="en-US" altLang="ko-KR" kern="0" dirty="0"/>
              <a:t>PM</a:t>
            </a:r>
            <a:r>
              <a:rPr lang="ko-KR" altLang="en-US" kern="0" dirty="0"/>
              <a:t> 없이</a:t>
            </a:r>
            <a:r>
              <a:rPr lang="en-US" altLang="ko-KR" kern="0" dirty="0"/>
              <a:t>, PL</a:t>
            </a:r>
            <a:r>
              <a:rPr lang="ko-KR" altLang="en-US" kern="0" dirty="0"/>
              <a:t>이 개발관점에서 필요한 관리 업무를 수행하였음</a:t>
            </a:r>
            <a:endParaRPr lang="en-US" altLang="ko-KR" kern="0" dirty="0"/>
          </a:p>
          <a:p>
            <a:r>
              <a:rPr lang="ko-KR" altLang="en-US" kern="0" dirty="0"/>
              <a:t>이번 역량 인증 과정을 통해 명시적인 </a:t>
            </a:r>
            <a:r>
              <a:rPr lang="en-US" altLang="ko-KR" kern="0" dirty="0"/>
              <a:t>PM</a:t>
            </a:r>
            <a:r>
              <a:rPr lang="ko-KR" altLang="en-US" kern="0" dirty="0"/>
              <a:t> 활동이 부재한 경우의 취약점을 식별</a:t>
            </a:r>
            <a:r>
              <a:rPr lang="en-US" altLang="ko-KR" kern="0" dirty="0"/>
              <a:t>, </a:t>
            </a:r>
            <a:r>
              <a:rPr lang="ko-KR" altLang="en-US" kern="0" dirty="0"/>
              <a:t>보완함으로써</a:t>
            </a:r>
            <a:r>
              <a:rPr lang="en-US" altLang="ko-KR" kern="0" dirty="0"/>
              <a:t>, 1</a:t>
            </a:r>
            <a:r>
              <a:rPr lang="ko-KR" altLang="en-US" kern="0" dirty="0"/>
              <a:t>인 </a:t>
            </a:r>
            <a:r>
              <a:rPr lang="ko-KR" altLang="en-US" kern="0" dirty="0" err="1"/>
              <a:t>과제에서까지도</a:t>
            </a:r>
            <a:r>
              <a:rPr lang="ko-KR" altLang="en-US" kern="0" dirty="0"/>
              <a:t> 적용가능한 </a:t>
            </a:r>
            <a:r>
              <a:rPr lang="en-US" altLang="ko-KR" kern="0" dirty="0"/>
              <a:t>PM</a:t>
            </a:r>
            <a:r>
              <a:rPr lang="ko-KR" altLang="en-US" kern="0" dirty="0"/>
              <a:t> 역량을 구축하는 것이 목적임</a:t>
            </a:r>
            <a:r>
              <a:rPr lang="en-US" altLang="ko-KR" kern="0" dirty="0"/>
              <a:t>. </a:t>
            </a:r>
            <a:endParaRPr lang="ko-KR" altLang="en-US" kern="0" dirty="0"/>
          </a:p>
        </p:txBody>
      </p:sp>
    </p:spTree>
    <p:extLst>
      <p:ext uri="{BB962C8B-B14F-4D97-AF65-F5344CB8AC3E}">
        <p14:creationId xmlns:p14="http://schemas.microsoft.com/office/powerpoint/2010/main" val="2180579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D3883-6985-F852-754E-DE33A1CF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관리 현황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8F3B73B-D575-FDCE-7BDF-0F447091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DBC1C0-0EBF-03F1-E13D-D3474D8A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01694D-8B12-86A0-5D1C-6997B4C37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요구사항</a:t>
            </a:r>
            <a:r>
              <a:rPr lang="en-US" altLang="ko-KR" dirty="0"/>
              <a:t>_</a:t>
            </a:r>
            <a:r>
              <a:rPr lang="ko-KR" altLang="en-US" dirty="0"/>
              <a:t>정합성</a:t>
            </a:r>
            <a:r>
              <a:rPr lang="en-US" altLang="ko-KR" dirty="0"/>
              <a:t>/</a:t>
            </a:r>
            <a:r>
              <a:rPr lang="ko-KR" altLang="en-US" dirty="0"/>
              <a:t>추적성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2E9AB-05C3-F4FF-BCED-80B7B5ECA2FB}"/>
              </a:ext>
            </a:extLst>
          </p:cNvPr>
          <p:cNvSpPr txBox="1"/>
          <p:nvPr/>
        </p:nvSpPr>
        <p:spPr>
          <a:xfrm>
            <a:off x="502920" y="1298448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정합성</a:t>
            </a:r>
            <a:r>
              <a:rPr sz="1400" b="1" i="0" dirty="0">
                <a:solidFill>
                  <a:srgbClr val="1F2D50"/>
                </a:solidFill>
                <a:latin typeface="맑은 고딕"/>
              </a:rPr>
              <a:t> — </a:t>
            </a: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무엇을</a:t>
            </a:r>
            <a:r>
              <a:rPr sz="1400" b="1" i="0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합의했는가</a:t>
            </a:r>
            <a:endParaRPr sz="1400" b="1" i="0" dirty="0">
              <a:solidFill>
                <a:srgbClr val="1F2D50"/>
              </a:solidFill>
              <a:latin typeface="맑은 고딕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29CD00CD-2E80-94C5-CAD4-EEAC942CEA4C}"/>
              </a:ext>
            </a:extLst>
          </p:cNvPr>
          <p:cNvSpPr/>
          <p:nvPr/>
        </p:nvSpPr>
        <p:spPr>
          <a:xfrm>
            <a:off x="502920" y="1705356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A9F3C-73F6-F092-01ED-A0CFBF9612CD}"/>
              </a:ext>
            </a:extLst>
          </p:cNvPr>
          <p:cNvSpPr txBox="1"/>
          <p:nvPr/>
        </p:nvSpPr>
        <p:spPr>
          <a:xfrm>
            <a:off x="685800" y="1810622"/>
            <a:ext cx="2674130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ko-KR" altLang="en-US" sz="1300" b="1" dirty="0">
                <a:solidFill>
                  <a:srgbClr val="1F2D50"/>
                </a:solidFill>
                <a:latin typeface="맑은 고딕"/>
              </a:rPr>
              <a:t>이해 관계자 요구 사항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6B727C"/>
                </a:solidFill>
                <a:effectLst/>
                <a:uLnTx/>
                <a:uFillTx/>
                <a:latin typeface="맑은 고딕"/>
                <a:ea typeface="LG스마트체 Regular"/>
                <a:cs typeface="+mn-cs"/>
              </a:rPr>
              <a:t> 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7C"/>
                </a:solidFill>
                <a:effectLst/>
                <a:uLnTx/>
                <a:uFillTx/>
                <a:latin typeface="맑은 고딕"/>
                <a:ea typeface="LG스마트체 Regular"/>
                <a:cs typeface="+mn-cs"/>
              </a:rPr>
              <a:t>구두 요청사항</a:t>
            </a:r>
            <a:endParaRPr sz="1300" b="1" dirty="0">
              <a:solidFill>
                <a:srgbClr val="1F2D50"/>
              </a:solidFill>
              <a:latin typeface="맑은 고딕"/>
            </a:endParaRPr>
          </a:p>
        </p:txBody>
      </p:sp>
      <p:sp>
        <p:nvSpPr>
          <p:cNvPr id="9" name="Down Arrow 10">
            <a:extLst>
              <a:ext uri="{FF2B5EF4-FFF2-40B4-BE49-F238E27FC236}">
                <a16:creationId xmlns:a16="http://schemas.microsoft.com/office/drawing/2014/main" id="{B0E64356-1215-1B31-77FA-3DD3126882BF}"/>
              </a:ext>
            </a:extLst>
          </p:cNvPr>
          <p:cNvSpPr/>
          <p:nvPr/>
        </p:nvSpPr>
        <p:spPr>
          <a:xfrm>
            <a:off x="3104388" y="2232964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32A4A81A-ABD5-DE3A-4F17-B5AA592432D6}"/>
              </a:ext>
            </a:extLst>
          </p:cNvPr>
          <p:cNvSpPr/>
          <p:nvPr/>
        </p:nvSpPr>
        <p:spPr>
          <a:xfrm>
            <a:off x="502920" y="3047462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D63DA-CEB4-BC8E-1B6E-D6C19144BF89}"/>
              </a:ext>
            </a:extLst>
          </p:cNvPr>
          <p:cNvSpPr txBox="1"/>
          <p:nvPr/>
        </p:nvSpPr>
        <p:spPr>
          <a:xfrm>
            <a:off x="685800" y="3047462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맑은 고딕"/>
              </a:rPr>
              <a:t>44개 REQ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확정</a:t>
            </a:r>
            <a:r>
              <a:rPr sz="1100" dirty="0">
                <a:solidFill>
                  <a:srgbClr val="C9D2E3"/>
                </a:solidFill>
                <a:latin typeface="맑은 고딕"/>
              </a:rPr>
              <a:t>   PLG 27 + HUB 17</a:t>
            </a:r>
          </a:p>
        </p:txBody>
      </p:sp>
      <p:sp>
        <p:nvSpPr>
          <p:cNvPr id="12" name="Down Arrow 13">
            <a:extLst>
              <a:ext uri="{FF2B5EF4-FFF2-40B4-BE49-F238E27FC236}">
                <a16:creationId xmlns:a16="http://schemas.microsoft.com/office/drawing/2014/main" id="{4238FD40-5B82-E0AA-1D57-20DABBC8F52E}"/>
              </a:ext>
            </a:extLst>
          </p:cNvPr>
          <p:cNvSpPr/>
          <p:nvPr/>
        </p:nvSpPr>
        <p:spPr>
          <a:xfrm>
            <a:off x="3104388" y="3575070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AFA99374-A8F9-AC32-6C35-5C468249AA0F}"/>
              </a:ext>
            </a:extLst>
          </p:cNvPr>
          <p:cNvSpPr/>
          <p:nvPr/>
        </p:nvSpPr>
        <p:spPr>
          <a:xfrm>
            <a:off x="502920" y="3714974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9B9916-F721-EFF3-1EE9-8F0051119618}"/>
              </a:ext>
            </a:extLst>
          </p:cNvPr>
          <p:cNvSpPr txBox="1"/>
          <p:nvPr/>
        </p:nvSpPr>
        <p:spPr>
          <a:xfrm>
            <a:off x="685800" y="3714974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 dirty="0" err="1">
                <a:solidFill>
                  <a:srgbClr val="1F2D50"/>
                </a:solidFill>
                <a:latin typeface="맑은 고딕"/>
              </a:rPr>
              <a:t>우선순위</a:t>
            </a:r>
            <a:r>
              <a:rPr sz="1300" b="1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F2D50"/>
                </a:solidFill>
                <a:latin typeface="맑은 고딕"/>
              </a:rPr>
              <a:t>분류</a:t>
            </a:r>
            <a:r>
              <a:rPr sz="1100" dirty="0">
                <a:solidFill>
                  <a:srgbClr val="6B727C"/>
                </a:solidFill>
                <a:latin typeface="맑은 고딕"/>
              </a:rPr>
              <a:t>   P0 / P1 / P2</a:t>
            </a:r>
          </a:p>
        </p:txBody>
      </p:sp>
      <p:sp>
        <p:nvSpPr>
          <p:cNvPr id="15" name="Down Arrow 16">
            <a:extLst>
              <a:ext uri="{FF2B5EF4-FFF2-40B4-BE49-F238E27FC236}">
                <a16:creationId xmlns:a16="http://schemas.microsoft.com/office/drawing/2014/main" id="{7BF09128-2DC5-34BB-7233-4FA7EF88A370}"/>
              </a:ext>
            </a:extLst>
          </p:cNvPr>
          <p:cNvSpPr/>
          <p:nvPr/>
        </p:nvSpPr>
        <p:spPr>
          <a:xfrm>
            <a:off x="3104388" y="4242582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733346C7-9C44-BC2A-ABFA-9FD3D942970E}"/>
              </a:ext>
            </a:extLst>
          </p:cNvPr>
          <p:cNvSpPr/>
          <p:nvPr/>
        </p:nvSpPr>
        <p:spPr>
          <a:xfrm>
            <a:off x="502920" y="4382486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01013-8D79-92CE-4F3A-026DE6BDFA4E}"/>
              </a:ext>
            </a:extLst>
          </p:cNvPr>
          <p:cNvSpPr txBox="1"/>
          <p:nvPr/>
        </p:nvSpPr>
        <p:spPr>
          <a:xfrm>
            <a:off x="685800" y="4382486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공식 승인</a:t>
            </a:r>
            <a:r>
              <a:rPr sz="1100">
                <a:solidFill>
                  <a:srgbClr val="6B727C"/>
                </a:solidFill>
                <a:latin typeface="맑은 고딕"/>
              </a:rPr>
              <a:t>   TL(4/24) · iLab장(4/29)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9E838629-2CE0-C9FD-1C81-A167FDA8C699}"/>
              </a:ext>
            </a:extLst>
          </p:cNvPr>
          <p:cNvSpPr/>
          <p:nvPr/>
        </p:nvSpPr>
        <p:spPr>
          <a:xfrm>
            <a:off x="502920" y="5095718"/>
            <a:ext cx="5349240" cy="810069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D5186F-82CF-C411-DE34-6CA685022AA0}"/>
              </a:ext>
            </a:extLst>
          </p:cNvPr>
          <p:cNvSpPr txBox="1"/>
          <p:nvPr/>
        </p:nvSpPr>
        <p:spPr>
          <a:xfrm>
            <a:off x="704088" y="5168870"/>
            <a:ext cx="4946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 dirty="0" err="1">
                <a:solidFill>
                  <a:srgbClr val="1F2D50"/>
                </a:solidFill>
                <a:latin typeface="맑은 고딕"/>
              </a:rPr>
              <a:t>검증</a:t>
            </a:r>
            <a:r>
              <a:rPr sz="1150" b="1" i="0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150" b="1" i="0" dirty="0" err="1">
                <a:solidFill>
                  <a:srgbClr val="1F2D50"/>
                </a:solidFill>
                <a:latin typeface="맑은 고딕"/>
              </a:rPr>
              <a:t>기준</a:t>
            </a:r>
            <a:r>
              <a:rPr sz="1150" b="1" i="0" dirty="0">
                <a:solidFill>
                  <a:srgbClr val="1F2D50"/>
                </a:solidFill>
                <a:latin typeface="맑은 고딕"/>
              </a:rPr>
              <a:t> — </a:t>
            </a:r>
            <a:r>
              <a:rPr sz="1150" b="1" i="0" dirty="0" err="1">
                <a:solidFill>
                  <a:srgbClr val="1F2D50"/>
                </a:solidFill>
                <a:latin typeface="맑은 고딕"/>
              </a:rPr>
              <a:t>이유와</a:t>
            </a:r>
            <a:r>
              <a:rPr sz="1150" b="1" i="0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150" b="1" i="0" dirty="0" err="1">
                <a:solidFill>
                  <a:srgbClr val="1F2D50"/>
                </a:solidFill>
                <a:latin typeface="맑은 고딕"/>
              </a:rPr>
              <a:t>한계</a:t>
            </a:r>
            <a:endParaRPr sz="1150" b="1" i="0" dirty="0">
              <a:solidFill>
                <a:srgbClr val="1F2D50"/>
              </a:solidFill>
              <a:latin typeface="맑은 고딕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 dirty="0">
                <a:solidFill>
                  <a:srgbClr val="3A3F47"/>
                </a:solidFill>
                <a:latin typeface="맑은 고딕"/>
              </a:rPr>
              <a:t>PoC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범위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제외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기준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(4.3 §1.3)에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따라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핵심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기능은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WBS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단위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DoD로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검증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.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정식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테스트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설계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(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경계값·회귀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등)는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도입하지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못해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다음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단계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개선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과제로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3A3F47"/>
                </a:solidFill>
                <a:latin typeface="맑은 고딕"/>
              </a:rPr>
              <a:t>남음</a:t>
            </a:r>
            <a:r>
              <a:rPr sz="1050" b="0" i="0" dirty="0">
                <a:solidFill>
                  <a:srgbClr val="3A3F47"/>
                </a:solidFill>
                <a:latin typeface="맑은 고딕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6F27F5-1656-BD01-CD80-C78AF4EFB7A0}"/>
              </a:ext>
            </a:extLst>
          </p:cNvPr>
          <p:cNvSpPr txBox="1"/>
          <p:nvPr/>
        </p:nvSpPr>
        <p:spPr>
          <a:xfrm>
            <a:off x="6355080" y="1298448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추적성</a:t>
            </a:r>
            <a:r>
              <a:rPr sz="1400" b="1" i="0" dirty="0">
                <a:solidFill>
                  <a:srgbClr val="1F2D50"/>
                </a:solidFill>
                <a:latin typeface="맑은 고딕"/>
              </a:rPr>
              <a:t> — </a:t>
            </a: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합의를</a:t>
            </a:r>
            <a:r>
              <a:rPr sz="1400" b="1" i="0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어떻게</a:t>
            </a:r>
            <a:r>
              <a:rPr sz="1400" b="1" i="0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놓치지</a:t>
            </a:r>
            <a:r>
              <a:rPr sz="1400" b="1" i="0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않았는가</a:t>
            </a:r>
            <a:endParaRPr sz="1400" b="1" i="0" dirty="0">
              <a:solidFill>
                <a:srgbClr val="1F2D50"/>
              </a:solidFill>
              <a:latin typeface="맑은 고딕"/>
            </a:endParaRPr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182BA858-0954-F8C0-4CD9-1C6E7D67B7E0}"/>
              </a:ext>
            </a:extLst>
          </p:cNvPr>
          <p:cNvSpPr/>
          <p:nvPr/>
        </p:nvSpPr>
        <p:spPr>
          <a:xfrm>
            <a:off x="6355080" y="1709928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2787F-8026-6E40-214C-FA6AC3EB82BD}"/>
              </a:ext>
            </a:extLst>
          </p:cNvPr>
          <p:cNvSpPr txBox="1"/>
          <p:nvPr/>
        </p:nvSpPr>
        <p:spPr>
          <a:xfrm>
            <a:off x="6537960" y="1709928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PLG_REQ_013</a:t>
            </a:r>
            <a:r>
              <a:rPr sz="1050">
                <a:solidFill>
                  <a:srgbClr val="6B727C"/>
                </a:solidFill>
                <a:latin typeface="맑은 고딕"/>
              </a:rPr>
              <a:t>   기동어 인식 결과 처리 (P0)</a:t>
            </a:r>
          </a:p>
        </p:txBody>
      </p:sp>
      <p:sp>
        <p:nvSpPr>
          <p:cNvPr id="23" name="Down Arrow 24">
            <a:extLst>
              <a:ext uri="{FF2B5EF4-FFF2-40B4-BE49-F238E27FC236}">
                <a16:creationId xmlns:a16="http://schemas.microsoft.com/office/drawing/2014/main" id="{799740E6-23EB-F428-E85D-081789C777C5}"/>
              </a:ext>
            </a:extLst>
          </p:cNvPr>
          <p:cNvSpPr/>
          <p:nvPr/>
        </p:nvSpPr>
        <p:spPr>
          <a:xfrm>
            <a:off x="8956548" y="2237536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5">
            <a:extLst>
              <a:ext uri="{FF2B5EF4-FFF2-40B4-BE49-F238E27FC236}">
                <a16:creationId xmlns:a16="http://schemas.microsoft.com/office/drawing/2014/main" id="{91533E2B-C168-BD38-53BA-18E4BFF35CBE}"/>
              </a:ext>
            </a:extLst>
          </p:cNvPr>
          <p:cNvSpPr/>
          <p:nvPr/>
        </p:nvSpPr>
        <p:spPr>
          <a:xfrm>
            <a:off x="6355080" y="2377440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A12314-BC85-BEF5-6AEA-E3B6B3E39DFA}"/>
              </a:ext>
            </a:extLst>
          </p:cNvPr>
          <p:cNvSpPr txBox="1"/>
          <p:nvPr/>
        </p:nvSpPr>
        <p:spPr>
          <a:xfrm>
            <a:off x="6537960" y="2377440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PLG_WBS_037 / 038 / 039</a:t>
            </a:r>
            <a:r>
              <a:rPr sz="1050">
                <a:solidFill>
                  <a:srgbClr val="6B727C"/>
                </a:solidFill>
                <a:latin typeface="맑은 고딕"/>
              </a:rPr>
              <a:t>   구현</a:t>
            </a:r>
          </a:p>
        </p:txBody>
      </p:sp>
      <p:sp>
        <p:nvSpPr>
          <p:cNvPr id="26" name="Down Arrow 27">
            <a:extLst>
              <a:ext uri="{FF2B5EF4-FFF2-40B4-BE49-F238E27FC236}">
                <a16:creationId xmlns:a16="http://schemas.microsoft.com/office/drawing/2014/main" id="{DBFA82FD-A59F-8CE5-D868-82E5BCBC9F93}"/>
              </a:ext>
            </a:extLst>
          </p:cNvPr>
          <p:cNvSpPr/>
          <p:nvPr/>
        </p:nvSpPr>
        <p:spPr>
          <a:xfrm>
            <a:off x="8956548" y="2905048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8">
            <a:extLst>
              <a:ext uri="{FF2B5EF4-FFF2-40B4-BE49-F238E27FC236}">
                <a16:creationId xmlns:a16="http://schemas.microsoft.com/office/drawing/2014/main" id="{DD21DA80-0BD7-8FC7-B4CA-C5E718157A6F}"/>
              </a:ext>
            </a:extLst>
          </p:cNvPr>
          <p:cNvSpPr/>
          <p:nvPr/>
        </p:nvSpPr>
        <p:spPr>
          <a:xfrm>
            <a:off x="6355080" y="3044952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7B86DB-9663-F3B1-2E12-35D465181ECB}"/>
              </a:ext>
            </a:extLst>
          </p:cNvPr>
          <p:cNvSpPr txBox="1"/>
          <p:nvPr/>
        </p:nvSpPr>
        <p:spPr>
          <a:xfrm>
            <a:off x="6537960" y="3044952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DoD</a:t>
            </a:r>
            <a:r>
              <a:rPr sz="1050">
                <a:solidFill>
                  <a:srgbClr val="6B727C"/>
                </a:solidFill>
                <a:latin typeface="맑은 고딕"/>
              </a:rPr>
              <a:t>   code commit + 동작 확인</a:t>
            </a:r>
          </a:p>
        </p:txBody>
      </p:sp>
      <p:sp>
        <p:nvSpPr>
          <p:cNvPr id="29" name="Down Arrow 30">
            <a:extLst>
              <a:ext uri="{FF2B5EF4-FFF2-40B4-BE49-F238E27FC236}">
                <a16:creationId xmlns:a16="http://schemas.microsoft.com/office/drawing/2014/main" id="{2DD0CC9B-92B1-437F-47E3-7BA62C6B849F}"/>
              </a:ext>
            </a:extLst>
          </p:cNvPr>
          <p:cNvSpPr/>
          <p:nvPr/>
        </p:nvSpPr>
        <p:spPr>
          <a:xfrm>
            <a:off x="8956548" y="3572560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31">
            <a:extLst>
              <a:ext uri="{FF2B5EF4-FFF2-40B4-BE49-F238E27FC236}">
                <a16:creationId xmlns:a16="http://schemas.microsoft.com/office/drawing/2014/main" id="{3DED719C-4F2D-FDF2-8DBB-F0BF3E4DE606}"/>
              </a:ext>
            </a:extLst>
          </p:cNvPr>
          <p:cNvSpPr/>
          <p:nvPr/>
        </p:nvSpPr>
        <p:spPr>
          <a:xfrm>
            <a:off x="6355080" y="3712464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2E5A9E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C81850-F18A-72AC-4530-D2D2F28C7B55}"/>
              </a:ext>
            </a:extLst>
          </p:cNvPr>
          <p:cNvSpPr txBox="1"/>
          <p:nvPr/>
        </p:nvSpPr>
        <p:spPr>
          <a:xfrm>
            <a:off x="6537960" y="3712464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맑은 고딕"/>
              </a:rPr>
              <a:t>5.3 MS#4 기능 적합성 PASS</a:t>
            </a:r>
            <a:r>
              <a:rPr sz="1050">
                <a:solidFill>
                  <a:srgbClr val="DCE6F5"/>
                </a:solidFill>
                <a:latin typeface="맑은 고딕"/>
              </a:rPr>
              <a:t>   TL 승인 (9/30)</a:t>
            </a:r>
          </a:p>
        </p:txBody>
      </p:sp>
      <p:sp>
        <p:nvSpPr>
          <p:cNvPr id="32" name="Rounded Rectangle 33">
            <a:extLst>
              <a:ext uri="{FF2B5EF4-FFF2-40B4-BE49-F238E27FC236}">
                <a16:creationId xmlns:a16="http://schemas.microsoft.com/office/drawing/2014/main" id="{12C969F5-EB4D-1446-8E72-D4BE9AEE39D7}"/>
              </a:ext>
            </a:extLst>
          </p:cNvPr>
          <p:cNvSpPr/>
          <p:nvPr/>
        </p:nvSpPr>
        <p:spPr>
          <a:xfrm>
            <a:off x="6355080" y="4425696"/>
            <a:ext cx="5349240" cy="960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FAE1F4-6497-C77E-5E6A-D6FBA7397253}"/>
              </a:ext>
            </a:extLst>
          </p:cNvPr>
          <p:cNvSpPr txBox="1"/>
          <p:nvPr/>
        </p:nvSpPr>
        <p:spPr>
          <a:xfrm>
            <a:off x="6556248" y="4498848"/>
            <a:ext cx="4946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</a:rPr>
              <a:t>추적 요구사항 </a:t>
            </a:r>
            <a:r>
              <a:rPr sz="1500" b="1" i="0">
                <a:solidFill>
                  <a:srgbClr val="2E5A9E"/>
                </a:solidFill>
                <a:latin typeface="맑은 고딕"/>
              </a:rPr>
              <a:t>47개</a:t>
            </a:r>
            <a:r>
              <a:rPr sz="1300" b="0" i="0">
                <a:solidFill>
                  <a:srgbClr val="3A3F47"/>
                </a:solidFill>
                <a:latin typeface="맑은 고딕"/>
              </a:rPr>
              <a:t>  ·  연결 WBS </a:t>
            </a:r>
            <a:r>
              <a:rPr sz="1500" b="1" i="0">
                <a:solidFill>
                  <a:srgbClr val="2E5A9E"/>
                </a:solidFill>
                <a:latin typeface="맑은 고딕"/>
              </a:rPr>
              <a:t>65개</a:t>
            </a:r>
            <a:r>
              <a:rPr sz="1300" b="0" i="0">
                <a:solidFill>
                  <a:srgbClr val="3A3F47"/>
                </a:solidFill>
                <a:latin typeface="맑은 고딕"/>
              </a:rPr>
              <a:t>  ·  누락 </a:t>
            </a:r>
            <a:r>
              <a:rPr sz="1500" b="1" i="0">
                <a:solidFill>
                  <a:srgbClr val="2E7D32"/>
                </a:solidFill>
                <a:latin typeface="맑은 고딕"/>
              </a:rPr>
              <a:t>0건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CR-01/02 반영 후에도 전체 추적 유지 확인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552103-6FF8-AAF0-1588-35A46584B2C7}"/>
              </a:ext>
            </a:extLst>
          </p:cNvPr>
          <p:cNvSpPr txBox="1"/>
          <p:nvPr/>
        </p:nvSpPr>
        <p:spPr>
          <a:xfrm>
            <a:off x="731520" y="6133783"/>
            <a:ext cx="10698480" cy="22313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 dirty="0">
                <a:solidFill>
                  <a:srgbClr val="1F2D50"/>
                </a:solidFill>
                <a:latin typeface="맑은 고딕"/>
              </a:rPr>
              <a:t>▶ </a:t>
            </a:r>
            <a:r>
              <a:rPr lang="en-US" sz="1150" b="1" i="1" dirty="0">
                <a:solidFill>
                  <a:srgbClr val="1F2D50"/>
                </a:solidFill>
                <a:latin typeface="맑은 고딕"/>
              </a:rPr>
              <a:t>CR </a:t>
            </a:r>
            <a:r>
              <a:rPr sz="1150" b="1" i="1" dirty="0" err="1">
                <a:solidFill>
                  <a:srgbClr val="1F2D50"/>
                </a:solidFill>
                <a:latin typeface="맑은 고딕"/>
              </a:rPr>
              <a:t>영향</a:t>
            </a:r>
            <a:r>
              <a:rPr lang="en-US" sz="1150" b="1" i="1" dirty="0">
                <a:solidFill>
                  <a:srgbClr val="1F2D50"/>
                </a:solidFill>
                <a:latin typeface="맑은 고딕"/>
              </a:rPr>
              <a:t> </a:t>
            </a:r>
            <a:r>
              <a:rPr lang="ko-KR" altLang="en-US" sz="1150" b="1" i="1" dirty="0">
                <a:solidFill>
                  <a:srgbClr val="1F2D50"/>
                </a:solidFill>
                <a:latin typeface="맑은 고딕"/>
              </a:rPr>
              <a:t>검토를 위한 기반 정보</a:t>
            </a:r>
            <a:endParaRPr sz="1150" b="1" i="1" dirty="0">
              <a:solidFill>
                <a:srgbClr val="1F2D50"/>
              </a:solidFill>
              <a:latin typeface="맑은 고딕"/>
            </a:endParaRPr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3223AA3C-72F2-4FD9-5D18-68C613A980B6}"/>
              </a:ext>
            </a:extLst>
          </p:cNvPr>
          <p:cNvSpPr/>
          <p:nvPr/>
        </p:nvSpPr>
        <p:spPr>
          <a:xfrm>
            <a:off x="502920" y="2361883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0024DF-DB05-DD39-BF05-B887F1CD98D6}"/>
              </a:ext>
            </a:extLst>
          </p:cNvPr>
          <p:cNvSpPr txBox="1"/>
          <p:nvPr/>
        </p:nvSpPr>
        <p:spPr>
          <a:xfrm>
            <a:off x="685800" y="2467149"/>
            <a:ext cx="3607078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ko-KR" altLang="en-US" sz="1300" b="1" dirty="0">
                <a:solidFill>
                  <a:srgbClr val="1F2D50"/>
                </a:solidFill>
                <a:latin typeface="맑은 고딕"/>
              </a:rPr>
              <a:t>요구사항 분해</a:t>
            </a:r>
            <a:r>
              <a:rPr lang="en-US" altLang="ko-KR" sz="1300" b="1" dirty="0">
                <a:solidFill>
                  <a:srgbClr val="1F2D50"/>
                </a:solidFill>
                <a:latin typeface="맑은 고딕"/>
              </a:rPr>
              <a:t> / </a:t>
            </a:r>
            <a:r>
              <a:rPr lang="ko-KR" altLang="en-US" sz="1300" b="1" dirty="0">
                <a:solidFill>
                  <a:srgbClr val="1F2D50"/>
                </a:solidFill>
                <a:latin typeface="맑은 고딕"/>
              </a:rPr>
              <a:t>구체화</a:t>
            </a:r>
            <a:r>
              <a:rPr lang="en-US" sz="1100" dirty="0">
                <a:solidFill>
                  <a:srgbClr val="6B727C"/>
                </a:solidFill>
                <a:latin typeface="맑은 고딕"/>
              </a:rPr>
              <a:t>   User story / </a:t>
            </a:r>
            <a:r>
              <a:rPr lang="ko-KR" altLang="en-US" sz="1100" dirty="0">
                <a:solidFill>
                  <a:srgbClr val="6B727C"/>
                </a:solidFill>
                <a:latin typeface="맑은 고딕"/>
              </a:rPr>
              <a:t>제품별 </a:t>
            </a:r>
            <a:r>
              <a:rPr lang="en-US" altLang="ko-KR" sz="1100" dirty="0">
                <a:solidFill>
                  <a:srgbClr val="6B727C"/>
                </a:solidFill>
                <a:latin typeface="맑은 고딕"/>
              </a:rPr>
              <a:t>/ </a:t>
            </a:r>
            <a:r>
              <a:rPr lang="ko-KR" altLang="en-US" sz="1100" dirty="0">
                <a:solidFill>
                  <a:srgbClr val="6B727C"/>
                </a:solidFill>
                <a:latin typeface="맑은 고딕"/>
              </a:rPr>
              <a:t>기능별</a:t>
            </a:r>
            <a:endParaRPr lang="en-US" sz="1100" dirty="0">
              <a:solidFill>
                <a:srgbClr val="6B727C"/>
              </a:solidFill>
              <a:latin typeface="맑은 고딕"/>
            </a:endParaRPr>
          </a:p>
        </p:txBody>
      </p:sp>
      <p:sp>
        <p:nvSpPr>
          <p:cNvPr id="41" name="Down Arrow 16">
            <a:extLst>
              <a:ext uri="{FF2B5EF4-FFF2-40B4-BE49-F238E27FC236}">
                <a16:creationId xmlns:a16="http://schemas.microsoft.com/office/drawing/2014/main" id="{D9A9395A-990E-57FB-DA2A-D48B6E1F3FFA}"/>
              </a:ext>
            </a:extLst>
          </p:cNvPr>
          <p:cNvSpPr/>
          <p:nvPr/>
        </p:nvSpPr>
        <p:spPr>
          <a:xfrm>
            <a:off x="3104388" y="2889491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0006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AC04-C82C-114B-687E-BE1912D6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90C7E-CBE0-D234-A926-F8DB4171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관리 현황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5B8CEC9-DF9B-1B5E-15A7-8150EAA1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37C56-8051-B715-A174-827A609C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A583BB-831D-564E-F90B-97D0EA101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en-US" altLang="ko-KR" dirty="0"/>
              <a:t>Release</a:t>
            </a:r>
            <a:r>
              <a:rPr lang="ko-KR" altLang="en-US" dirty="0"/>
              <a:t>계획</a:t>
            </a:r>
            <a:r>
              <a:rPr lang="en-US" altLang="ko-KR" dirty="0"/>
              <a:t>_</a:t>
            </a:r>
            <a:r>
              <a:rPr lang="ko-KR" altLang="en-US" dirty="0"/>
              <a:t>계획수립</a:t>
            </a:r>
            <a:r>
              <a:rPr lang="en-US" altLang="ko-KR" dirty="0"/>
              <a:t>/</a:t>
            </a:r>
            <a:r>
              <a:rPr lang="ko-KR" altLang="en-US" dirty="0"/>
              <a:t>통합</a:t>
            </a:r>
          </a:p>
        </p:txBody>
      </p:sp>
      <p:cxnSp>
        <p:nvCxnSpPr>
          <p:cNvPr id="3" name="Connector 4">
            <a:extLst>
              <a:ext uri="{FF2B5EF4-FFF2-40B4-BE49-F238E27FC236}">
                <a16:creationId xmlns:a16="http://schemas.microsoft.com/office/drawing/2014/main" id="{81D275ED-79C6-6760-E9C2-B33AB8475C41}"/>
              </a:ext>
            </a:extLst>
          </p:cNvPr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1E8F0E1-D90E-115D-0BC1-F3EE38752660}"/>
              </a:ext>
            </a:extLst>
          </p:cNvPr>
          <p:cNvSpPr txBox="1"/>
          <p:nvPr/>
        </p:nvSpPr>
        <p:spPr>
          <a:xfrm>
            <a:off x="502920" y="1298448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A3F47"/>
                </a:solidFill>
                <a:latin typeface="맑은 고딕"/>
              </a:rPr>
              <a:t>8/11~12, iLab장·TL 요청으로 시연 시나리오 통합(CR-01) 및 플러그 4:1 확장(CR-02) 발생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7E3C0-F64B-0514-86FD-D78C048A60D6}"/>
              </a:ext>
            </a:extLst>
          </p:cNvPr>
          <p:cNvSpPr txBox="1"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영향도 분석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ABE14346-6F54-F2BA-F42C-033E2B363CCC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2011680"/>
          <a:ext cx="69494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영향 내용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Score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PM 1차 의견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최종 결정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범위·일정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신규 구현 4주+, 검증 2주 추가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성능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멀티카메라 연동 네트워크 지연 리스크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타 과제 기개발 모듈 통합 일정 리스크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C9A0DA17-2388-1CE6-80BC-F344BB6E6C49}"/>
              </a:ext>
            </a:extLst>
          </p:cNvPr>
          <p:cNvSpPr/>
          <p:nvPr/>
        </p:nvSpPr>
        <p:spPr>
          <a:xfrm>
            <a:off x="502920" y="3456432"/>
            <a:ext cx="6949440" cy="56692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5340E-B9FF-2C59-4C2C-A552B1E4E55A}"/>
              </a:ext>
            </a:extLst>
          </p:cNvPr>
          <p:cNvSpPr txBox="1"/>
          <p:nvPr/>
        </p:nvSpPr>
        <p:spPr>
          <a:xfrm>
            <a:off x="713232" y="3456432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1F2D50"/>
                </a:solidFill>
                <a:latin typeface="맑은 고딕"/>
              </a:rPr>
              <a:t>결정 근거  </a:t>
            </a:r>
            <a:r>
              <a:rPr sz="1150">
                <a:solidFill>
                  <a:srgbClr val="3A3F47"/>
                </a:solidFill>
                <a:latin typeface="맑은 고딕"/>
              </a:rPr>
              <a:t>조직 비즈니스 목표(사업부 기술 바잉 설득) 우선 판단에 따라 CCB에서 수용 결정 (8/12)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834E7-0DAD-3735-C04E-A37D90537A49}"/>
              </a:ext>
            </a:extLst>
          </p:cNvPr>
          <p:cNvSpPr txBox="1"/>
          <p:nvPr/>
        </p:nvSpPr>
        <p:spPr>
          <a:xfrm>
            <a:off x="502920" y="422452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수용 직후 4단계 조치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80CC05D8-17FD-DA04-295B-CF87D5414EE4}"/>
              </a:ext>
            </a:extLst>
          </p:cNvPr>
          <p:cNvSpPr/>
          <p:nvPr/>
        </p:nvSpPr>
        <p:spPr>
          <a:xfrm>
            <a:off x="50292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E2B589-8B4C-FEDF-5193-F3E1C5786EE3}"/>
              </a:ext>
            </a:extLst>
          </p:cNvPr>
          <p:cNvSpPr txBox="1"/>
          <p:nvPr/>
        </p:nvSpPr>
        <p:spPr>
          <a:xfrm>
            <a:off x="59436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CCB 수용 결정</a:t>
            </a:r>
          </a:p>
        </p:txBody>
      </p:sp>
      <p:sp>
        <p:nvSpPr>
          <p:cNvPr id="15" name="Right Arrow 15">
            <a:extLst>
              <a:ext uri="{FF2B5EF4-FFF2-40B4-BE49-F238E27FC236}">
                <a16:creationId xmlns:a16="http://schemas.microsoft.com/office/drawing/2014/main" id="{ED625CDC-6018-77DB-8238-A60C6949658F}"/>
              </a:ext>
            </a:extLst>
          </p:cNvPr>
          <p:cNvSpPr/>
          <p:nvPr/>
        </p:nvSpPr>
        <p:spPr>
          <a:xfrm>
            <a:off x="214152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71EBBA67-9173-7CC6-22A5-B5B94D9FB031}"/>
              </a:ext>
            </a:extLst>
          </p:cNvPr>
          <p:cNvSpPr/>
          <p:nvPr/>
        </p:nvSpPr>
        <p:spPr>
          <a:xfrm>
            <a:off x="224028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CE35D-0952-8CD4-521D-394BD37DEE66}"/>
              </a:ext>
            </a:extLst>
          </p:cNvPr>
          <p:cNvSpPr txBox="1"/>
          <p:nvPr/>
        </p:nvSpPr>
        <p:spPr>
          <a:xfrm>
            <a:off x="233172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영향도 분석 문서화</a:t>
            </a:r>
          </a:p>
          <a:p>
            <a:pPr algn="ctr"/>
            <a:r>
              <a:rPr sz="900">
                <a:solidFill>
                  <a:srgbClr val="6B727C"/>
                </a:solidFill>
                <a:latin typeface="맑은 고딕"/>
              </a:rPr>
              <a:t>6.1 §4</a:t>
            </a:r>
          </a:p>
        </p:txBody>
      </p:sp>
      <p:sp>
        <p:nvSpPr>
          <p:cNvPr id="18" name="Right Arrow 18">
            <a:extLst>
              <a:ext uri="{FF2B5EF4-FFF2-40B4-BE49-F238E27FC236}">
                <a16:creationId xmlns:a16="http://schemas.microsoft.com/office/drawing/2014/main" id="{E13950EB-D111-8BCF-C7EF-9DA68F171AF2}"/>
              </a:ext>
            </a:extLst>
          </p:cNvPr>
          <p:cNvSpPr/>
          <p:nvPr/>
        </p:nvSpPr>
        <p:spPr>
          <a:xfrm>
            <a:off x="387888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7D0CDF3A-C1DA-547C-8CFD-F9AFE946CD76}"/>
              </a:ext>
            </a:extLst>
          </p:cNvPr>
          <p:cNvSpPr/>
          <p:nvPr/>
        </p:nvSpPr>
        <p:spPr>
          <a:xfrm>
            <a:off x="397764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58F4F5-6D11-041E-6FED-4FDAC3980F94}"/>
              </a:ext>
            </a:extLst>
          </p:cNvPr>
          <p:cNvSpPr txBox="1"/>
          <p:nvPr/>
        </p:nvSpPr>
        <p:spPr>
          <a:xfrm>
            <a:off x="406908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기준선 재설정</a:t>
            </a:r>
          </a:p>
          <a:p>
            <a:pPr algn="ctr"/>
            <a:r>
              <a:rPr sz="900">
                <a:solidFill>
                  <a:srgbClr val="C9D2E3"/>
                </a:solidFill>
                <a:latin typeface="맑은 고딕"/>
              </a:rPr>
              <a:t>WBS 61→64개, 종료일 +14일</a:t>
            </a:r>
          </a:p>
        </p:txBody>
      </p:sp>
      <p:sp>
        <p:nvSpPr>
          <p:cNvPr id="21" name="Right Arrow 21">
            <a:extLst>
              <a:ext uri="{FF2B5EF4-FFF2-40B4-BE49-F238E27FC236}">
                <a16:creationId xmlns:a16="http://schemas.microsoft.com/office/drawing/2014/main" id="{21714B4C-27AE-E381-2045-714957401D52}"/>
              </a:ext>
            </a:extLst>
          </p:cNvPr>
          <p:cNvSpPr/>
          <p:nvPr/>
        </p:nvSpPr>
        <p:spPr>
          <a:xfrm>
            <a:off x="561624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2">
            <a:extLst>
              <a:ext uri="{FF2B5EF4-FFF2-40B4-BE49-F238E27FC236}">
                <a16:creationId xmlns:a16="http://schemas.microsoft.com/office/drawing/2014/main" id="{4ED0C281-AA9B-EFB9-6FEC-F07182978973}"/>
              </a:ext>
            </a:extLst>
          </p:cNvPr>
          <p:cNvSpPr/>
          <p:nvPr/>
        </p:nvSpPr>
        <p:spPr>
          <a:xfrm>
            <a:off x="571500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968F6A-63D4-F0E5-2493-61C5D5FCEC29}"/>
              </a:ext>
            </a:extLst>
          </p:cNvPr>
          <p:cNvSpPr txBox="1"/>
          <p:nvPr/>
        </p:nvSpPr>
        <p:spPr>
          <a:xfrm>
            <a:off x="580644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추적매트릭스·대시보드 동기화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565320-15A9-6322-5DB5-83437EC2DEC6}"/>
              </a:ext>
            </a:extLst>
          </p:cNvPr>
          <p:cNvSpPr txBox="1"/>
          <p:nvPr/>
        </p:nvSpPr>
        <p:spPr>
          <a:xfrm>
            <a:off x="7772400" y="1691640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일정 편차 분석 (V1 → V2)</a:t>
            </a:r>
          </a:p>
        </p:txBody>
      </p:sp>
      <p:graphicFrame>
        <p:nvGraphicFramePr>
          <p:cNvPr id="25" name="Table 25">
            <a:extLst>
              <a:ext uri="{FF2B5EF4-FFF2-40B4-BE49-F238E27FC236}">
                <a16:creationId xmlns:a16="http://schemas.microsoft.com/office/drawing/2014/main" id="{1D474F36-4CEB-CF6C-1E27-4BCE673F7835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2011680"/>
          <a:ext cx="391363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V1 (8/1, CR 직전)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WBS 12개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+3개 선행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V2 (12/9, 종료)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WBS 64개 / 12/01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61개 / 12/09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-3개 / +8일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Rounded Rectangle 26">
            <a:extLst>
              <a:ext uri="{FF2B5EF4-FFF2-40B4-BE49-F238E27FC236}">
                <a16:creationId xmlns:a16="http://schemas.microsoft.com/office/drawing/2014/main" id="{DB9503FC-FF06-83D0-8CC1-B76A4BAD0576}"/>
              </a:ext>
            </a:extLst>
          </p:cNvPr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B7B74B-7650-55F0-A3D7-F44DB4465FBD}"/>
              </a:ext>
            </a:extLst>
          </p:cNvPr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기준선이 바뀌자, 그 다음부터 우리가 추적해야 할 숫자 자체가 달라졌습니다.</a:t>
            </a:r>
          </a:p>
        </p:txBody>
      </p:sp>
    </p:spTree>
    <p:extLst>
      <p:ext uri="{BB962C8B-B14F-4D97-AF65-F5344CB8AC3E}">
        <p14:creationId xmlns:p14="http://schemas.microsoft.com/office/powerpoint/2010/main" val="354251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A095D-25A2-E4FA-1FD1-85B27027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1D99A-4E66-3AA3-1795-807EBB51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관리 현황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873939B-A0EB-6D12-8256-B1DF2777E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F9F3D-2871-597E-304B-19659FF8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B777C9-3314-E822-047E-6CA5C1EDD3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프로젝트 대시보드</a:t>
            </a:r>
            <a:r>
              <a:rPr lang="en-US" altLang="ko-KR" dirty="0"/>
              <a:t>_</a:t>
            </a:r>
            <a:r>
              <a:rPr lang="ko-KR" altLang="en-US" dirty="0"/>
              <a:t>현재</a:t>
            </a:r>
            <a:r>
              <a:rPr lang="en-US" altLang="ko-KR" dirty="0"/>
              <a:t>/</a:t>
            </a:r>
            <a:r>
              <a:rPr lang="ko-KR" altLang="en-US" dirty="0"/>
              <a:t>미래예측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49287-BE66-375C-D28C-5B465D351489}"/>
              </a:ext>
            </a:extLst>
          </p:cNvPr>
          <p:cNvSpPr txBox="1"/>
          <p:nvPr/>
        </p:nvSpPr>
        <p:spPr>
          <a:xfrm>
            <a:off x="502920" y="12984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KPI 3종 — 판단·조치 체인</a:t>
            </a: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2DF31E76-9122-071D-BA15-038693D50BF3}"/>
              </a:ext>
            </a:extLst>
          </p:cNvPr>
          <p:cNvSpPr/>
          <p:nvPr/>
        </p:nvSpPr>
        <p:spPr>
          <a:xfrm>
            <a:off x="502920" y="1664208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75098-1B66-8B9F-2CBA-02DCAC9F6BB6}"/>
              </a:ext>
            </a:extLst>
          </p:cNvPr>
          <p:cNvSpPr txBox="1"/>
          <p:nvPr/>
        </p:nvSpPr>
        <p:spPr>
          <a:xfrm>
            <a:off x="640080" y="1664208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2D50"/>
                </a:solidFill>
                <a:latin typeface="맑은 고딕"/>
              </a:rPr>
              <a:t>기능구현완료율 95%</a:t>
            </a:r>
          </a:p>
        </p:txBody>
      </p:sp>
      <p:sp>
        <p:nvSpPr>
          <p:cNvPr id="9" name="Down Arrow 10">
            <a:extLst>
              <a:ext uri="{FF2B5EF4-FFF2-40B4-BE49-F238E27FC236}">
                <a16:creationId xmlns:a16="http://schemas.microsoft.com/office/drawing/2014/main" id="{1AD9BD12-2259-EF52-7B5A-3B819BF56597}"/>
              </a:ext>
            </a:extLst>
          </p:cNvPr>
          <p:cNvSpPr/>
          <p:nvPr/>
        </p:nvSpPr>
        <p:spPr>
          <a:xfrm>
            <a:off x="1741932" y="2133295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42D8E5A6-D716-C7BB-2C81-DEF54827B175}"/>
              </a:ext>
            </a:extLst>
          </p:cNvPr>
          <p:cNvSpPr/>
          <p:nvPr/>
        </p:nvSpPr>
        <p:spPr>
          <a:xfrm>
            <a:off x="502920" y="2240280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461E4-0C37-4718-A7AC-6EED3AB02EBB}"/>
              </a:ext>
            </a:extLst>
          </p:cNvPr>
          <p:cNvSpPr txBox="1"/>
          <p:nvPr/>
        </p:nvSpPr>
        <p:spPr>
          <a:xfrm>
            <a:off x="640080" y="224028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미달 5%는 시연 핵심 외 항목 → 시연 가능</a:t>
            </a:r>
          </a:p>
        </p:txBody>
      </p:sp>
      <p:sp>
        <p:nvSpPr>
          <p:cNvPr id="12" name="Down Arrow 13">
            <a:extLst>
              <a:ext uri="{FF2B5EF4-FFF2-40B4-BE49-F238E27FC236}">
                <a16:creationId xmlns:a16="http://schemas.microsoft.com/office/drawing/2014/main" id="{9459262A-98F2-05A8-666B-5FD08C178BF1}"/>
              </a:ext>
            </a:extLst>
          </p:cNvPr>
          <p:cNvSpPr/>
          <p:nvPr/>
        </p:nvSpPr>
        <p:spPr>
          <a:xfrm>
            <a:off x="1741932" y="2709367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2E0602AE-43C8-660B-61C2-88295DF3A484}"/>
              </a:ext>
            </a:extLst>
          </p:cNvPr>
          <p:cNvSpPr/>
          <p:nvPr/>
        </p:nvSpPr>
        <p:spPr>
          <a:xfrm>
            <a:off x="502920" y="2816352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6A1A16-E558-E950-D787-C83969BE19D1}"/>
              </a:ext>
            </a:extLst>
          </p:cNvPr>
          <p:cNvSpPr txBox="1"/>
          <p:nvPr/>
        </p:nvSpPr>
        <p:spPr>
          <a:xfrm>
            <a:off x="640080" y="2816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미완료 항목 시연 범위 외 분류</a:t>
            </a:r>
          </a:p>
        </p:txBody>
      </p:sp>
      <p:sp>
        <p:nvSpPr>
          <p:cNvPr id="15" name="Down Arrow 16">
            <a:extLst>
              <a:ext uri="{FF2B5EF4-FFF2-40B4-BE49-F238E27FC236}">
                <a16:creationId xmlns:a16="http://schemas.microsoft.com/office/drawing/2014/main" id="{9A1AB643-DF36-A182-FF8E-B5C16E621759}"/>
              </a:ext>
            </a:extLst>
          </p:cNvPr>
          <p:cNvSpPr/>
          <p:nvPr/>
        </p:nvSpPr>
        <p:spPr>
          <a:xfrm>
            <a:off x="1741932" y="3285439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A0D0FE79-4C6B-08C6-5612-EB539AF69F6C}"/>
              </a:ext>
            </a:extLst>
          </p:cNvPr>
          <p:cNvSpPr/>
          <p:nvPr/>
        </p:nvSpPr>
        <p:spPr>
          <a:xfrm>
            <a:off x="502920" y="3392424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CC390-89FF-7A31-B484-C67B83912F88}"/>
              </a:ext>
            </a:extLst>
          </p:cNvPr>
          <p:cNvSpPr txBox="1"/>
          <p:nvPr/>
        </p:nvSpPr>
        <p:spPr>
          <a:xfrm>
            <a:off x="640080" y="3392424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시연 100% 완료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491DBC6F-ED05-C7BE-8D03-9B8088932DE1}"/>
              </a:ext>
            </a:extLst>
          </p:cNvPr>
          <p:cNvSpPr/>
          <p:nvPr/>
        </p:nvSpPr>
        <p:spPr>
          <a:xfrm>
            <a:off x="3337560" y="1664208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C15CC2-F2E9-FF2F-06E3-2106779BB2D2}"/>
              </a:ext>
            </a:extLst>
          </p:cNvPr>
          <p:cNvSpPr txBox="1"/>
          <p:nvPr/>
        </p:nvSpPr>
        <p:spPr>
          <a:xfrm>
            <a:off x="3474720" y="1664208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2D50"/>
                </a:solidFill>
                <a:latin typeface="맑은 고딕"/>
              </a:rPr>
              <a:t>주요 결함 C급 2건 (A·B급 0건)</a:t>
            </a:r>
          </a:p>
        </p:txBody>
      </p:sp>
      <p:sp>
        <p:nvSpPr>
          <p:cNvPr id="20" name="Down Arrow 21">
            <a:extLst>
              <a:ext uri="{FF2B5EF4-FFF2-40B4-BE49-F238E27FC236}">
                <a16:creationId xmlns:a16="http://schemas.microsoft.com/office/drawing/2014/main" id="{836D32C3-3950-02A7-0EEA-768B71DF64B8}"/>
              </a:ext>
            </a:extLst>
          </p:cNvPr>
          <p:cNvSpPr/>
          <p:nvPr/>
        </p:nvSpPr>
        <p:spPr>
          <a:xfrm>
            <a:off x="4576572" y="2133295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E073DB99-1ECD-20C6-06BA-46CEB80C241F}"/>
              </a:ext>
            </a:extLst>
          </p:cNvPr>
          <p:cNvSpPr/>
          <p:nvPr/>
        </p:nvSpPr>
        <p:spPr>
          <a:xfrm>
            <a:off x="3337560" y="2240280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D375F7-E543-3021-5F7D-FA1550D0E19F}"/>
              </a:ext>
            </a:extLst>
          </p:cNvPr>
          <p:cNvSpPr txBox="1"/>
          <p:nvPr/>
        </p:nvSpPr>
        <p:spPr>
          <a:xfrm>
            <a:off x="3474720" y="224028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허용 범위 내 Closed 처리</a:t>
            </a:r>
          </a:p>
        </p:txBody>
      </p:sp>
      <p:sp>
        <p:nvSpPr>
          <p:cNvPr id="23" name="Down Arrow 24">
            <a:extLst>
              <a:ext uri="{FF2B5EF4-FFF2-40B4-BE49-F238E27FC236}">
                <a16:creationId xmlns:a16="http://schemas.microsoft.com/office/drawing/2014/main" id="{124AFCFB-5C4F-FBAF-4AE5-24D56862A5C1}"/>
              </a:ext>
            </a:extLst>
          </p:cNvPr>
          <p:cNvSpPr/>
          <p:nvPr/>
        </p:nvSpPr>
        <p:spPr>
          <a:xfrm>
            <a:off x="4576572" y="2709367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5">
            <a:extLst>
              <a:ext uri="{FF2B5EF4-FFF2-40B4-BE49-F238E27FC236}">
                <a16:creationId xmlns:a16="http://schemas.microsoft.com/office/drawing/2014/main" id="{6993B46D-8364-7AC8-146E-9CF43F1F70A5}"/>
              </a:ext>
            </a:extLst>
          </p:cNvPr>
          <p:cNvSpPr/>
          <p:nvPr/>
        </p:nvSpPr>
        <p:spPr>
          <a:xfrm>
            <a:off x="3337560" y="2816352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078BF5-B5F0-E4CF-313F-42E6115D9B94}"/>
              </a:ext>
            </a:extLst>
          </p:cNvPr>
          <p:cNvSpPr txBox="1"/>
          <p:nvPr/>
        </p:nvSpPr>
        <p:spPr>
          <a:xfrm>
            <a:off x="3474720" y="2816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A·B급 0건 유지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FC71E-6425-D17D-DA3A-657599AEFBDB}"/>
              </a:ext>
            </a:extLst>
          </p:cNvPr>
          <p:cNvSpPr txBox="1"/>
          <p:nvPr/>
        </p:nvSpPr>
        <p:spPr>
          <a:xfrm>
            <a:off x="6263640" y="1298448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일정 편차 — V1/V2 비교 (CR 전후 연결)</a:t>
            </a:r>
          </a:p>
        </p:txBody>
      </p:sp>
      <p:graphicFrame>
        <p:nvGraphicFramePr>
          <p:cNvPr id="27" name="Table 28">
            <a:extLst>
              <a:ext uri="{FF2B5EF4-FFF2-40B4-BE49-F238E27FC236}">
                <a16:creationId xmlns:a16="http://schemas.microsoft.com/office/drawing/2014/main" id="{571C206E-5135-6666-FC4F-5E4BC99A99B3}"/>
              </a:ext>
            </a:extLst>
          </p:cNvPr>
          <p:cNvGraphicFramePr>
            <a:graphicFrameLocks noGrp="1"/>
          </p:cNvGraphicFramePr>
          <p:nvPr/>
        </p:nvGraphicFramePr>
        <p:xfrm>
          <a:off x="6263640" y="1664208"/>
          <a:ext cx="5440679" cy="117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V1 (8/1, CR 발생 직전)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WBS 12개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+3개 선행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V2 (12/9, 종료)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WBS 64개 / 12/01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61개 / 12/09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-3개 / +8일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Rounded Rectangle 29">
            <a:extLst>
              <a:ext uri="{FF2B5EF4-FFF2-40B4-BE49-F238E27FC236}">
                <a16:creationId xmlns:a16="http://schemas.microsoft.com/office/drawing/2014/main" id="{FB500E82-F151-AADD-2D9E-0F450C5D9E6E}"/>
              </a:ext>
            </a:extLst>
          </p:cNvPr>
          <p:cNvSpPr/>
          <p:nvPr/>
        </p:nvSpPr>
        <p:spPr>
          <a:xfrm>
            <a:off x="6263640" y="3172967"/>
            <a:ext cx="5440680" cy="155448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A6702D-E6C7-BCD8-74CB-5DA400D4D93D}"/>
              </a:ext>
            </a:extLst>
          </p:cNvPr>
          <p:cNvSpPr txBox="1"/>
          <p:nvPr/>
        </p:nvSpPr>
        <p:spPr>
          <a:xfrm>
            <a:off x="6519672" y="3310127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2D50"/>
                </a:solidFill>
                <a:latin typeface="맑은 고딕"/>
              </a:rPr>
              <a:t>7.5 대시보드 원문 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"PLG 15개 완료(계획 대비 3개 선행)는 </a:t>
            </a:r>
            <a:r>
              <a:rPr sz="1100" b="1" i="1">
                <a:solidFill>
                  <a:srgbClr val="1F2D50"/>
                </a:solidFill>
                <a:latin typeface="맑은 고딕"/>
              </a:rPr>
              <a:t>CR-01/02 발생 후 대응 여력 확보에 기여함</a:t>
            </a:r>
            <a:r>
              <a:rPr sz="1100" b="0" i="0">
                <a:solidFill>
                  <a:srgbClr val="3A3F47"/>
                </a:solidFill>
                <a:latin typeface="맑은 고딕"/>
              </a:rPr>
              <a:t>."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B727C"/>
                </a:solidFill>
                <a:latin typeface="맑은 고딕"/>
              </a:rPr>
              <a:t>미래 예측 기법(EVM 등 잔여작업 기반 정량 예측)은 이번 과제에 도입하지 못한 부분이며, S7 개선 기회에서 다룹니다.</a:t>
            </a:r>
          </a:p>
        </p:txBody>
      </p:sp>
      <p:sp>
        <p:nvSpPr>
          <p:cNvPr id="30" name="Rounded Rectangle 31">
            <a:extLst>
              <a:ext uri="{FF2B5EF4-FFF2-40B4-BE49-F238E27FC236}">
                <a16:creationId xmlns:a16="http://schemas.microsoft.com/office/drawing/2014/main" id="{288C1AF7-2299-9F2E-F666-20706508D197}"/>
              </a:ext>
            </a:extLst>
          </p:cNvPr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AC0B3F-FB09-9AC5-EFF8-A6F85DB5FBA9}"/>
              </a:ext>
            </a:extLst>
          </p:cNvPr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이 KPI 판단이, 통제 가능한 영역에 자원을 쓰는 다음 선택으로 이어졌습니다.</a:t>
            </a:r>
          </a:p>
        </p:txBody>
      </p:sp>
    </p:spTree>
    <p:extLst>
      <p:ext uri="{BB962C8B-B14F-4D97-AF65-F5344CB8AC3E}">
        <p14:creationId xmlns:p14="http://schemas.microsoft.com/office/powerpoint/2010/main" val="43156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9EF56-04F6-6D1F-A630-E5A45D88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A37A2-C825-33AF-4628-AA0380F6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관리 현황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90797D-2F86-917B-ED80-8AF0737A8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961CA-1CEE-3926-8750-847928D1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F0316A-1E5D-9109-AF23-CE4F206FE3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84327" y="112714"/>
            <a:ext cx="4081381" cy="363537"/>
          </a:xfrm>
        </p:spPr>
        <p:txBody>
          <a:bodyPr/>
          <a:lstStyle/>
          <a:p>
            <a:pPr algn="r"/>
            <a:r>
              <a:rPr lang="ko-KR" altLang="en-US" dirty="0"/>
              <a:t>프로젝트 소통과 협업</a:t>
            </a:r>
            <a:r>
              <a:rPr lang="en-US" altLang="ko-KR" dirty="0"/>
              <a:t>_</a:t>
            </a:r>
            <a:r>
              <a:rPr lang="ko-KR" altLang="en-US" dirty="0"/>
              <a:t>정보배포</a:t>
            </a:r>
            <a:r>
              <a:rPr lang="en-US" altLang="ko-KR" dirty="0"/>
              <a:t>/</a:t>
            </a:r>
            <a:r>
              <a:rPr lang="ko-KR" altLang="en-US" dirty="0"/>
              <a:t>이해관계자참여</a:t>
            </a:r>
          </a:p>
        </p:txBody>
      </p:sp>
      <p:cxnSp>
        <p:nvCxnSpPr>
          <p:cNvPr id="3" name="Connector 4">
            <a:extLst>
              <a:ext uri="{FF2B5EF4-FFF2-40B4-BE49-F238E27FC236}">
                <a16:creationId xmlns:a16="http://schemas.microsoft.com/office/drawing/2014/main" id="{81E82DC8-B7CC-5C8B-4FA8-C656381A02C0}"/>
              </a:ext>
            </a:extLst>
          </p:cNvPr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808A90-7C46-74B5-7B85-681FB2FD3AC1}"/>
              </a:ext>
            </a:extLst>
          </p:cNvPr>
          <p:cNvSpPr txBox="1"/>
          <p:nvPr/>
        </p:nvSpPr>
        <p:spPr>
          <a:xfrm>
            <a:off x="502920" y="12984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참여 활동 실적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7649B7E-9311-C755-1B06-2793192B1308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664208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채널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주기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주간 팀미팅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TL, 개발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매주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31회 / 참석률 100%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주간 랩보고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iLab장, TL, 기획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매주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28회 / 참석률 100%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게이트 리뷰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전체 이해관계자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최소 2회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3회 진행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CC3BC4-D1A2-A6DD-E3E9-39DA0AA6073C}"/>
              </a:ext>
            </a:extLst>
          </p:cNvPr>
          <p:cNvSpPr txBox="1"/>
          <p:nvPr/>
        </p:nvSpPr>
        <p:spPr>
          <a:xfrm>
            <a:off x="502920" y="321868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정보 배포: Collab(문서)·GitLab(소스) 중앙화 — 게이트 산출물 최종본 전체 반영(2.2)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7651A3-5CA8-BE11-DA37-92506F3A66E9}"/>
              </a:ext>
            </a:extLst>
          </p:cNvPr>
          <p:cNvSpPr txBox="1"/>
          <p:nvPr/>
        </p:nvSpPr>
        <p:spPr>
          <a:xfrm>
            <a:off x="502920" y="3721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판단 — CR 이후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B6CEFE3F-C71B-AABC-2C97-BCB3F6D4FC30}"/>
              </a:ext>
            </a:extLst>
          </p:cNvPr>
          <p:cNvSpPr/>
          <p:nvPr/>
        </p:nvSpPr>
        <p:spPr>
          <a:xfrm>
            <a:off x="502920" y="4041648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73F380-AF97-8D14-8A83-C30599C27A2C}"/>
              </a:ext>
            </a:extLst>
          </p:cNvPr>
          <p:cNvSpPr txBox="1"/>
          <p:nvPr/>
        </p:nvSpPr>
        <p:spPr>
          <a:xfrm>
            <a:off x="685800" y="4041648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CR-01/02는 정기 채널 외, 최상위 이해관계자의 권한 행사로 발생</a:t>
            </a:r>
          </a:p>
        </p:txBody>
      </p:sp>
      <p:sp>
        <p:nvSpPr>
          <p:cNvPr id="13" name="Down Arrow 13">
            <a:extLst>
              <a:ext uri="{FF2B5EF4-FFF2-40B4-BE49-F238E27FC236}">
                <a16:creationId xmlns:a16="http://schemas.microsoft.com/office/drawing/2014/main" id="{F6C18C86-9237-15E3-9886-E3E70C0F831D}"/>
              </a:ext>
            </a:extLst>
          </p:cNvPr>
          <p:cNvSpPr/>
          <p:nvPr/>
        </p:nvSpPr>
        <p:spPr>
          <a:xfrm>
            <a:off x="3186684" y="4465929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A49FE74F-8241-C5F4-03BA-F3CC9719786C}"/>
              </a:ext>
            </a:extLst>
          </p:cNvPr>
          <p:cNvSpPr/>
          <p:nvPr/>
        </p:nvSpPr>
        <p:spPr>
          <a:xfrm>
            <a:off x="502920" y="4535424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5E0D9D-B490-3091-52EE-CBB02F8175BE}"/>
              </a:ext>
            </a:extLst>
          </p:cNvPr>
          <p:cNvSpPr txBox="1"/>
          <p:nvPr/>
        </p:nvSpPr>
        <p:spPr>
          <a:xfrm>
            <a:off x="685800" y="4535424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통제 가능 영역과 불가능 영역을 구분</a:t>
            </a:r>
          </a:p>
        </p:txBody>
      </p:sp>
      <p:sp>
        <p:nvSpPr>
          <p:cNvPr id="16" name="Down Arrow 16">
            <a:extLst>
              <a:ext uri="{FF2B5EF4-FFF2-40B4-BE49-F238E27FC236}">
                <a16:creationId xmlns:a16="http://schemas.microsoft.com/office/drawing/2014/main" id="{BA15EF89-858A-1A65-0EEE-FB284C4D98C0}"/>
              </a:ext>
            </a:extLst>
          </p:cNvPr>
          <p:cNvSpPr/>
          <p:nvPr/>
        </p:nvSpPr>
        <p:spPr>
          <a:xfrm>
            <a:off x="3186684" y="4959705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FC4A689E-1807-29DC-6C3B-5FDF0DFA1B44}"/>
              </a:ext>
            </a:extLst>
          </p:cNvPr>
          <p:cNvSpPr/>
          <p:nvPr/>
        </p:nvSpPr>
        <p:spPr>
          <a:xfrm>
            <a:off x="502920" y="5029200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1FEABD-E693-E410-E9DD-C94BE41866DB}"/>
              </a:ext>
            </a:extLst>
          </p:cNvPr>
          <p:cNvSpPr txBox="1"/>
          <p:nvPr/>
        </p:nvSpPr>
        <p:spPr>
          <a:xfrm>
            <a:off x="685800" y="5029200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예방(채널·빈도 조정) → 효용 없음으로 판단, 폐기</a:t>
            </a:r>
          </a:p>
        </p:txBody>
      </p:sp>
      <p:sp>
        <p:nvSpPr>
          <p:cNvPr id="19" name="Down Arrow 19">
            <a:extLst>
              <a:ext uri="{FF2B5EF4-FFF2-40B4-BE49-F238E27FC236}">
                <a16:creationId xmlns:a16="http://schemas.microsoft.com/office/drawing/2014/main" id="{4ED62AAA-2A91-E917-0141-60FBFC13F5B9}"/>
              </a:ext>
            </a:extLst>
          </p:cNvPr>
          <p:cNvSpPr/>
          <p:nvPr/>
        </p:nvSpPr>
        <p:spPr>
          <a:xfrm>
            <a:off x="3186684" y="5453481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id="{777456CC-5C2C-0C07-451D-3785AC4491EE}"/>
              </a:ext>
            </a:extLst>
          </p:cNvPr>
          <p:cNvSpPr/>
          <p:nvPr/>
        </p:nvSpPr>
        <p:spPr>
          <a:xfrm>
            <a:off x="502920" y="5522976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25B39B-BC4F-70D4-E6FD-7AC9AFBA14AE}"/>
              </a:ext>
            </a:extLst>
          </p:cNvPr>
          <p:cNvSpPr txBox="1"/>
          <p:nvPr/>
        </p:nvSpPr>
        <p:spPr>
          <a:xfrm>
            <a:off x="685800" y="5522976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선택: S4에서 확보된 +3개 선행분을 버퍼로 흡수</a:t>
            </a:r>
          </a:p>
        </p:txBody>
      </p:sp>
      <p:sp>
        <p:nvSpPr>
          <p:cNvPr id="22" name="Down Arrow 22">
            <a:extLst>
              <a:ext uri="{FF2B5EF4-FFF2-40B4-BE49-F238E27FC236}">
                <a16:creationId xmlns:a16="http://schemas.microsoft.com/office/drawing/2014/main" id="{26C8A89B-BF31-8E42-717A-85AC0E1E8C70}"/>
              </a:ext>
            </a:extLst>
          </p:cNvPr>
          <p:cNvSpPr/>
          <p:nvPr/>
        </p:nvSpPr>
        <p:spPr>
          <a:xfrm>
            <a:off x="3186684" y="5947257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3">
            <a:extLst>
              <a:ext uri="{FF2B5EF4-FFF2-40B4-BE49-F238E27FC236}">
                <a16:creationId xmlns:a16="http://schemas.microsoft.com/office/drawing/2014/main" id="{917C673F-AE9F-32B0-BD13-99A259B66085}"/>
              </a:ext>
            </a:extLst>
          </p:cNvPr>
          <p:cNvSpPr/>
          <p:nvPr/>
        </p:nvSpPr>
        <p:spPr>
          <a:xfrm>
            <a:off x="502920" y="6016752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96F861-E8FA-0108-BD48-B643816DE657}"/>
              </a:ext>
            </a:extLst>
          </p:cNvPr>
          <p:cNvSpPr txBox="1"/>
          <p:nvPr/>
        </p:nvSpPr>
        <p:spPr>
          <a:xfrm>
            <a:off x="685800" y="6016752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추가 인력 없이 기존 4인으로 대응 완료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FE5ACA-F66F-B515-286F-2224945E887C}"/>
              </a:ext>
            </a:extLst>
          </p:cNvPr>
          <p:cNvSpPr txBox="1"/>
          <p:nvPr/>
        </p:nvSpPr>
        <p:spPr>
          <a:xfrm>
            <a:off x="6400800" y="1298448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통제 가능 / 불가능 영역 구분</a:t>
            </a:r>
          </a:p>
        </p:txBody>
      </p:sp>
      <p:sp>
        <p:nvSpPr>
          <p:cNvPr id="26" name="Rounded Rectangle 26">
            <a:extLst>
              <a:ext uri="{FF2B5EF4-FFF2-40B4-BE49-F238E27FC236}">
                <a16:creationId xmlns:a16="http://schemas.microsoft.com/office/drawing/2014/main" id="{CA7277D7-8EAE-1C21-83A9-5F517AC1CEC5}"/>
              </a:ext>
            </a:extLst>
          </p:cNvPr>
          <p:cNvSpPr/>
          <p:nvPr/>
        </p:nvSpPr>
        <p:spPr>
          <a:xfrm>
            <a:off x="6400800" y="1709928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177017-4F1D-CB93-F05B-A9590CCD5F9C}"/>
              </a:ext>
            </a:extLst>
          </p:cNvPr>
          <p:cNvSpPr txBox="1"/>
          <p:nvPr/>
        </p:nvSpPr>
        <p:spPr>
          <a:xfrm>
            <a:off x="6583680" y="1874520"/>
            <a:ext cx="219456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B02A37"/>
                </a:solidFill>
                <a:latin typeface="맑은 고딕"/>
              </a:rPr>
              <a:t>통제 불가능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최상위 이해관계자의 직접 권한 행사(CR-01/02 발생 경로)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6B727C"/>
                </a:solidFill>
                <a:latin typeface="맑은 고딕"/>
              </a:rPr>
              <a:t>✗ 채널·빈도 조정으로 예방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→ 효용 없음으로 판단, 폐기</a:t>
            </a:r>
          </a:p>
        </p:txBody>
      </p:sp>
      <p:sp>
        <p:nvSpPr>
          <p:cNvPr id="28" name="Rounded Rectangle 28">
            <a:extLst>
              <a:ext uri="{FF2B5EF4-FFF2-40B4-BE49-F238E27FC236}">
                <a16:creationId xmlns:a16="http://schemas.microsoft.com/office/drawing/2014/main" id="{21A3E4B7-AB9D-152E-1825-820ADDA9F303}"/>
              </a:ext>
            </a:extLst>
          </p:cNvPr>
          <p:cNvSpPr/>
          <p:nvPr/>
        </p:nvSpPr>
        <p:spPr>
          <a:xfrm>
            <a:off x="9125712" y="1709928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 w="12700">
            <a:solidFill>
              <a:srgbClr val="2E5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B9642D-C26D-AEEE-E400-6A0D21636ACD}"/>
              </a:ext>
            </a:extLst>
          </p:cNvPr>
          <p:cNvSpPr txBox="1"/>
          <p:nvPr/>
        </p:nvSpPr>
        <p:spPr>
          <a:xfrm>
            <a:off x="9308592" y="1874520"/>
            <a:ext cx="219456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맑은 고딕"/>
              </a:rPr>
              <a:t>통제 가능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일정·자원 버퍼의 확보와 배분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F2D50"/>
                </a:solidFill>
                <a:latin typeface="맑은 고딕"/>
              </a:rPr>
              <a:t>✔ +3개 선행분을 버퍼로 흡수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1F2D50"/>
                </a:solidFill>
                <a:latin typeface="맑은 고딕"/>
              </a:rPr>
              <a:t>→ 추가 인력 없이 기존 4인 대응</a:t>
            </a:r>
          </a:p>
        </p:txBody>
      </p:sp>
      <p:sp>
        <p:nvSpPr>
          <p:cNvPr id="30" name="Rounded Rectangle 30">
            <a:extLst>
              <a:ext uri="{FF2B5EF4-FFF2-40B4-BE49-F238E27FC236}">
                <a16:creationId xmlns:a16="http://schemas.microsoft.com/office/drawing/2014/main" id="{E335046F-0C92-5794-F679-B4C73DDA9AE9}"/>
              </a:ext>
            </a:extLst>
          </p:cNvPr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D493CB-F7EE-C79C-335F-1878FF38EE4A}"/>
              </a:ext>
            </a:extLst>
          </p:cNvPr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이 버퍼 흡수 판단이, 종료 시점에 "무엇을 기준으로 끝났다고 할 것인가"의 답이 됩니다.</a:t>
            </a:r>
          </a:p>
        </p:txBody>
      </p:sp>
    </p:spTree>
    <p:extLst>
      <p:ext uri="{BB962C8B-B14F-4D97-AF65-F5344CB8AC3E}">
        <p14:creationId xmlns:p14="http://schemas.microsoft.com/office/powerpoint/2010/main" val="1348212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724E8-8D28-B1E9-577A-37A3605C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06F86-F67A-4F92-FBF3-2F635534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관리 현황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4AB1278-7374-3A07-E08E-F6A537C0B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6439F3-AEB0-56B8-C92D-B86C3DF3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B41BA8-1D25-EC59-0DF2-FD801CAF40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프로젝트 선순환 구조</a:t>
            </a:r>
            <a:r>
              <a:rPr lang="en-US" altLang="ko-KR" dirty="0"/>
              <a:t>_</a:t>
            </a:r>
            <a:r>
              <a:rPr lang="ko-KR" altLang="en-US" dirty="0"/>
              <a:t>종료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CEA1457F-B235-F60A-DE6C-0A983B08F2BE}"/>
              </a:ext>
            </a:extLst>
          </p:cNvPr>
          <p:cNvSpPr/>
          <p:nvPr/>
        </p:nvSpPr>
        <p:spPr>
          <a:xfrm>
            <a:off x="502920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C9C19-1E9B-4E5C-1D96-0DAEEE0417D1}"/>
              </a:ext>
            </a:extLst>
          </p:cNvPr>
          <p:cNvSpPr txBox="1"/>
          <p:nvPr/>
        </p:nvSpPr>
        <p:spPr>
          <a:xfrm>
            <a:off x="502920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100%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핵심 시연 시나리오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달성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ED4FA481-1DBB-0279-8636-481B2607E16A}"/>
              </a:ext>
            </a:extLst>
          </p:cNvPr>
          <p:cNvSpPr/>
          <p:nvPr/>
        </p:nvSpPr>
        <p:spPr>
          <a:xfrm>
            <a:off x="3328416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ECC24-FB24-D2B5-BF3D-9816B878A927}"/>
              </a:ext>
            </a:extLst>
          </p:cNvPr>
          <p:cNvSpPr txBox="1"/>
          <p:nvPr/>
        </p:nvSpPr>
        <p:spPr>
          <a:xfrm>
            <a:off x="3328416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0건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A·B급 결함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목표 달성</a:t>
            </a: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3E22F830-EC8D-CEEE-4796-BF9DF18F8695}"/>
              </a:ext>
            </a:extLst>
          </p:cNvPr>
          <p:cNvSpPr/>
          <p:nvPr/>
        </p:nvSpPr>
        <p:spPr>
          <a:xfrm>
            <a:off x="6153912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5BD87-3F98-8B70-F786-C23004093D42}"/>
              </a:ext>
            </a:extLst>
          </p:cNvPr>
          <p:cNvSpPr txBox="1"/>
          <p:nvPr/>
        </p:nvSpPr>
        <p:spPr>
          <a:xfrm>
            <a:off x="6153912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완료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이해관계자 승인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11/30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94212A14-6B73-C10D-F6BA-B8E52245F687}"/>
              </a:ext>
            </a:extLst>
          </p:cNvPr>
          <p:cNvSpPr/>
          <p:nvPr/>
        </p:nvSpPr>
        <p:spPr>
          <a:xfrm>
            <a:off x="8979408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1E227E-2692-20AC-0455-0FED707A3B5C}"/>
              </a:ext>
            </a:extLst>
          </p:cNvPr>
          <p:cNvSpPr txBox="1"/>
          <p:nvPr/>
        </p:nvSpPr>
        <p:spPr>
          <a:xfrm>
            <a:off x="8979408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6B727C"/>
                </a:solidFill>
                <a:latin typeface="맑은 고딕"/>
              </a:rPr>
              <a:t>95.3%</a:t>
            </a:r>
          </a:p>
          <a:p>
            <a:pPr algn="ctr"/>
            <a:r>
              <a:rPr sz="1100" b="1">
                <a:solidFill>
                  <a:srgbClr val="3A3F47"/>
                </a:solidFill>
                <a:latin typeface="맑은 고딕"/>
              </a:rPr>
              <a:t>WBS 완료율(보조)</a:t>
            </a:r>
          </a:p>
          <a:p>
            <a:pPr algn="ctr"/>
            <a:r>
              <a:rPr sz="950" i="1">
                <a:solidFill>
                  <a:srgbClr val="6B727C"/>
                </a:solidFill>
                <a:latin typeface="맑은 고딕"/>
              </a:rPr>
              <a:t>미완 3개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51CD69-3E1C-5B1D-C248-246149D82D03}"/>
              </a:ext>
            </a:extLst>
          </p:cNvPr>
          <p:cNvSpPr txBox="1"/>
          <p:nvPr/>
        </p:nvSpPr>
        <p:spPr>
          <a:xfrm>
            <a:off x="502920" y="274320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종료 판단 — 핵심 지표 선행, 보조 지표 후행</a:t>
            </a:r>
          </a:p>
        </p:txBody>
      </p:sp>
      <p:graphicFrame>
        <p:nvGraphicFramePr>
          <p:cNvPr id="15" name="Table 16">
            <a:extLst>
              <a:ext uri="{FF2B5EF4-FFF2-40B4-BE49-F238E27FC236}">
                <a16:creationId xmlns:a16="http://schemas.microsoft.com/office/drawing/2014/main" id="{93CEB4D7-A19A-D233-EB04-FDC39DD64D36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3127248"/>
          <a:ext cx="1118311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핵심 시연 시나리오 (CR로 확장된 범위)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음성제어·인터컴·멀티플러그 4:1 통합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100% 달성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A·B급 결함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이해관계자 최종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iLab장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완료 (11/30)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WBS 완료율 (보조 지표)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95.3% (미완료 3개, 고도화)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0B14C70-DA0B-9256-F2EA-926EC44F10EB}"/>
              </a:ext>
            </a:extLst>
          </p:cNvPr>
          <p:cNvSpPr txBox="1"/>
          <p:nvPr/>
        </p:nvSpPr>
        <p:spPr>
          <a:xfrm>
            <a:off x="50292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7C"/>
                </a:solidFill>
                <a:latin typeface="맑은 고딕"/>
              </a:rPr>
              <a:t>종료 기준서(1.4) §2.4 — iLab장 최종 승인 완료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A92AC066-FBC1-1D29-DCF3-80800966851F}"/>
              </a:ext>
            </a:extLst>
          </p:cNvPr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D6F81C-6254-A005-575A-23810B8EEE28}"/>
              </a:ext>
            </a:extLst>
          </p:cNvPr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150" b="1" i="1">
                <a:solidFill>
                  <a:srgbClr val="1F2D50"/>
                </a:solidFill>
                <a:latin typeface="맑은 고딕"/>
              </a:rPr>
              <a:t>▶  이 시연 범위 자체가 S3의 CR 결정으로 확장된 결과입니다. 변경이 곧 이 과제가 도달한 최종 목표의 정의였습니다.</a:t>
            </a:r>
          </a:p>
        </p:txBody>
      </p:sp>
    </p:spTree>
    <p:extLst>
      <p:ext uri="{BB962C8B-B14F-4D97-AF65-F5344CB8AC3E}">
        <p14:creationId xmlns:p14="http://schemas.microsoft.com/office/powerpoint/2010/main" val="276793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5CAF-C1E6-1A2C-A54D-D30C16FD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94C0A6-55F2-317F-328B-753D2EC6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관리 현황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37D8D16-D91F-224F-1DE4-CB2963B4C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8C7605-CE0E-8785-6EA6-137EE152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B8D36-F453-CF09-EFC3-896D2319EB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프로젝트 선순환 구조</a:t>
            </a:r>
            <a:r>
              <a:rPr lang="en-US" altLang="ko-KR" dirty="0"/>
              <a:t>_</a:t>
            </a:r>
            <a:r>
              <a:rPr lang="ko-KR" altLang="en-US" dirty="0"/>
              <a:t>교훈</a:t>
            </a:r>
            <a:r>
              <a:rPr lang="en-US" altLang="ko-KR" dirty="0"/>
              <a:t>/</a:t>
            </a:r>
            <a:r>
              <a:rPr lang="ko-KR" altLang="en-US" dirty="0"/>
              <a:t>회고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070A4-8225-797B-D897-82FAFD1E6D17}"/>
              </a:ext>
            </a:extLst>
          </p:cNvPr>
          <p:cNvSpPr txBox="1"/>
          <p:nvPr/>
        </p:nvSpPr>
        <p:spPr>
          <a:xfrm>
            <a:off x="502920" y="1325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핵심 교훈 3건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8EB3B2E3-690F-F7FB-3D0A-C1D0F310D738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691640"/>
          <a:ext cx="1118311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핵심 내용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LL_01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방법론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요구사항 변동성 높은 과제는 Agile/Hybrid가 적합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LL_05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일정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CR 후 신규 WBS 세분화 원칙을 PM이 리더십으로 관철해야 함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이해관계자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최상위 이해관계자 변경 리스크는 전략 조정이 아닌 버퍼로 흡수해야 함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F2472B5-7DF1-5FE2-3AA1-A32F6F919417}"/>
              </a:ext>
            </a:extLst>
          </p:cNvPr>
          <p:cNvSpPr txBox="1"/>
          <p:nvPr/>
        </p:nvSpPr>
        <p:spPr>
          <a:xfrm>
            <a:off x="502920" y="33832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정직하게 인정하는 개선 기회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FD9CDAF4-FF28-2663-E1DD-B97B280EA753}"/>
              </a:ext>
            </a:extLst>
          </p:cNvPr>
          <p:cNvSpPr/>
          <p:nvPr/>
        </p:nvSpPr>
        <p:spPr>
          <a:xfrm>
            <a:off x="502920" y="374904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7AFA15B5-28DE-BC36-48D6-875CCB4435C5}"/>
              </a:ext>
            </a:extLst>
          </p:cNvPr>
          <p:cNvSpPr/>
          <p:nvPr/>
        </p:nvSpPr>
        <p:spPr>
          <a:xfrm>
            <a:off x="502920" y="3749040"/>
            <a:ext cx="5440680" cy="77724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791C4-04FC-B384-3962-AC96D08FEE4A}"/>
              </a:ext>
            </a:extLst>
          </p:cNvPr>
          <p:cNvSpPr txBox="1"/>
          <p:nvPr/>
        </p:nvSpPr>
        <p:spPr>
          <a:xfrm>
            <a:off x="777240" y="3858768"/>
            <a:ext cx="4892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잔여작업 기반 정량 예측(EVM 등) 미적용</a:t>
            </a:r>
          </a:p>
        </p:txBody>
      </p:sp>
      <p:sp>
        <p:nvSpPr>
          <p:cNvPr id="12" name="Down Arrow 13">
            <a:extLst>
              <a:ext uri="{FF2B5EF4-FFF2-40B4-BE49-F238E27FC236}">
                <a16:creationId xmlns:a16="http://schemas.microsoft.com/office/drawing/2014/main" id="{19CFA7F1-3618-E87E-360C-E8DFCD6109F8}"/>
              </a:ext>
            </a:extLst>
          </p:cNvPr>
          <p:cNvSpPr/>
          <p:nvPr/>
        </p:nvSpPr>
        <p:spPr>
          <a:xfrm>
            <a:off x="3140964" y="4617720"/>
            <a:ext cx="164592" cy="16459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1DFE17-743A-5006-9C6A-AB73EAD7EBDF}"/>
              </a:ext>
            </a:extLst>
          </p:cNvPr>
          <p:cNvSpPr txBox="1"/>
          <p:nvPr/>
        </p:nvSpPr>
        <p:spPr>
          <a:xfrm>
            <a:off x="777240" y="48920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A3F47"/>
                </a:solidFill>
                <a:latin typeface="맑은 고딕"/>
              </a:rPr>
              <a:t>완료시점·품질 리스크 사전예측 체계 부재가 개선 과제</a:t>
            </a:r>
          </a:p>
        </p:txBody>
      </p:sp>
      <p:cxnSp>
        <p:nvCxnSpPr>
          <p:cNvPr id="14" name="Connector 15">
            <a:extLst>
              <a:ext uri="{FF2B5EF4-FFF2-40B4-BE49-F238E27FC236}">
                <a16:creationId xmlns:a16="http://schemas.microsoft.com/office/drawing/2014/main" id="{72424717-D7B0-1114-B80C-C11D9AB26BA2}"/>
              </a:ext>
            </a:extLst>
          </p:cNvPr>
          <p:cNvCxnSpPr/>
          <p:nvPr/>
        </p:nvCxnSpPr>
        <p:spPr>
          <a:xfrm>
            <a:off x="777240" y="5715000"/>
            <a:ext cx="4892040" cy="0"/>
          </a:xfrm>
          <a:prstGeom prst="line">
            <a:avLst/>
          </a:prstGeom>
          <a:ln w="9525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456DEB-87A8-4848-0A77-2AF0740B2817}"/>
              </a:ext>
            </a:extLst>
          </p:cNvPr>
          <p:cNvSpPr txBox="1"/>
          <p:nvPr/>
        </p:nvSpPr>
        <p:spPr>
          <a:xfrm>
            <a:off x="777240" y="5833871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1">
                <a:solidFill>
                  <a:srgbClr val="2E5A9E"/>
                </a:solidFill>
                <a:latin typeface="맑은 고딕"/>
              </a:rPr>
              <a:t>⑥ 미래예측 — S8 Predict 카드에서 보완 설계</a:t>
            </a: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E0623410-E403-5A1D-5C98-339CAD043488}"/>
              </a:ext>
            </a:extLst>
          </p:cNvPr>
          <p:cNvSpPr/>
          <p:nvPr/>
        </p:nvSpPr>
        <p:spPr>
          <a:xfrm>
            <a:off x="6245352" y="374904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4053F481-3729-2723-02B4-010678A9672E}"/>
              </a:ext>
            </a:extLst>
          </p:cNvPr>
          <p:cNvSpPr/>
          <p:nvPr/>
        </p:nvSpPr>
        <p:spPr>
          <a:xfrm>
            <a:off x="6245352" y="3749040"/>
            <a:ext cx="5440680" cy="77724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3C1CAA-1012-C2C1-DB9C-D73F4AE5A35D}"/>
              </a:ext>
            </a:extLst>
          </p:cNvPr>
          <p:cNvSpPr txBox="1"/>
          <p:nvPr/>
        </p:nvSpPr>
        <p:spPr>
          <a:xfrm>
            <a:off x="6519672" y="3858768"/>
            <a:ext cx="4892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자동 알림·의사소통관리계획 부재</a:t>
            </a:r>
          </a:p>
        </p:txBody>
      </p:sp>
      <p:sp>
        <p:nvSpPr>
          <p:cNvPr id="19" name="Down Arrow 20">
            <a:extLst>
              <a:ext uri="{FF2B5EF4-FFF2-40B4-BE49-F238E27FC236}">
                <a16:creationId xmlns:a16="http://schemas.microsoft.com/office/drawing/2014/main" id="{424808B2-3054-F4B1-F657-F26F49EFCF33}"/>
              </a:ext>
            </a:extLst>
          </p:cNvPr>
          <p:cNvSpPr/>
          <p:nvPr/>
        </p:nvSpPr>
        <p:spPr>
          <a:xfrm>
            <a:off x="8883396" y="4617720"/>
            <a:ext cx="164592" cy="16459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94337B-BE41-CBA5-23E8-35013442C2AA}"/>
              </a:ext>
            </a:extLst>
          </p:cNvPr>
          <p:cNvSpPr txBox="1"/>
          <p:nvPr/>
        </p:nvSpPr>
        <p:spPr>
          <a:xfrm>
            <a:off x="6519672" y="48920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A3F47"/>
                </a:solidFill>
                <a:latin typeface="맑은 고딕"/>
              </a:rPr>
              <a:t>Collab/GitLab 중앙화에는 의존했으나 배포 체계는 미문서화</a:t>
            </a:r>
          </a:p>
        </p:txBody>
      </p:sp>
      <p:cxnSp>
        <p:nvCxnSpPr>
          <p:cNvPr id="21" name="Connector 22">
            <a:extLst>
              <a:ext uri="{FF2B5EF4-FFF2-40B4-BE49-F238E27FC236}">
                <a16:creationId xmlns:a16="http://schemas.microsoft.com/office/drawing/2014/main" id="{F842A5B5-AB59-97E2-B0BF-7B5FBCAB0685}"/>
              </a:ext>
            </a:extLst>
          </p:cNvPr>
          <p:cNvCxnSpPr/>
          <p:nvPr/>
        </p:nvCxnSpPr>
        <p:spPr>
          <a:xfrm>
            <a:off x="6519672" y="5715000"/>
            <a:ext cx="4892040" cy="0"/>
          </a:xfrm>
          <a:prstGeom prst="line">
            <a:avLst/>
          </a:prstGeom>
          <a:ln w="9525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2D5E6A-BFF7-718D-0710-E2B078D1A94D}"/>
              </a:ext>
            </a:extLst>
          </p:cNvPr>
          <p:cNvSpPr txBox="1"/>
          <p:nvPr/>
        </p:nvSpPr>
        <p:spPr>
          <a:xfrm>
            <a:off x="6519672" y="5833871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1">
                <a:solidFill>
                  <a:srgbClr val="2E5A9E"/>
                </a:solidFill>
                <a:latin typeface="맑은 고딕"/>
              </a:rPr>
              <a:t>⑦ 정보배포 — S8 Visibility 카드에서 보완 설계</a:t>
            </a:r>
          </a:p>
        </p:txBody>
      </p:sp>
    </p:spTree>
    <p:extLst>
      <p:ext uri="{BB962C8B-B14F-4D97-AF65-F5344CB8AC3E}">
        <p14:creationId xmlns:p14="http://schemas.microsoft.com/office/powerpoint/2010/main" val="85214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28736-9D85-6CC9-5E0B-351A743B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31E31E-8560-F2B8-285B-C1DEFC2A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860113-EAE8-BBAC-6927-9025CF44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A05CA1-09A1-46B6-43DA-A7312333E7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성과</a:t>
            </a:r>
            <a:r>
              <a:rPr lang="en-US" altLang="ko-KR" dirty="0"/>
              <a:t>_</a:t>
            </a:r>
            <a:r>
              <a:rPr lang="ko-KR" altLang="en-US" dirty="0"/>
              <a:t>부채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57859-E261-00E0-3005-39C41B6CDFE1}"/>
              </a:ext>
            </a:extLst>
          </p:cNvPr>
          <p:cNvSpPr txBox="1"/>
          <p:nvPr/>
        </p:nvSpPr>
        <p:spPr>
          <a:xfrm>
            <a:off x="502920" y="1325880"/>
            <a:ext cx="5440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성과</a:t>
            </a:r>
            <a:endParaRPr sz="1400" b="1" i="0" dirty="0">
              <a:solidFill>
                <a:srgbClr val="1F2D50"/>
              </a:solidFill>
              <a:latin typeface="맑은 고딕"/>
            </a:endParaRP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D790DCFA-78A3-EBB4-4715-442EB5D11855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691640"/>
          <a:ext cx="5440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관리 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수행 수준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요구사항 정의·승인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44개, 공식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3.3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변경 영향도 분석·통제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정량 분석 + CCB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6.1 §4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리스크→이슈 전환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7건 전수 추적, 전원 Closed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9.1/9.4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단계별 검증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7차 마일스톤 전 단계 PASS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5.3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6BC33085-DB1F-A870-4037-6DF64E89B2D2}"/>
              </a:ext>
            </a:extLst>
          </p:cNvPr>
          <p:cNvSpPr/>
          <p:nvPr/>
        </p:nvSpPr>
        <p:spPr>
          <a:xfrm>
            <a:off x="502920" y="3840480"/>
            <a:ext cx="5440680" cy="141732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rgbClr val="1F2D50"/>
                </a:solidFill>
              </a:rPr>
              <a:t>부채</a:t>
            </a:r>
            <a:endParaRPr lang="en-US" altLang="ko-KR" sz="1400" dirty="0">
              <a:solidFill>
                <a:srgbClr val="1F2D50"/>
              </a:solidFill>
            </a:endParaRPr>
          </a:p>
          <a:p>
            <a:pPr algn="ctr"/>
            <a:endParaRPr lang="en-US" dirty="0">
              <a:solidFill>
                <a:srgbClr val="1F2D50"/>
              </a:solidFill>
            </a:endParaRPr>
          </a:p>
          <a:p>
            <a:pPr algn="ctr"/>
            <a:endParaRPr lang="en-US" dirty="0">
              <a:solidFill>
                <a:srgbClr val="1F2D50"/>
              </a:solidFill>
            </a:endParaRPr>
          </a:p>
          <a:p>
            <a:pPr algn="ctr"/>
            <a:endParaRPr lang="en-US" dirty="0">
              <a:solidFill>
                <a:srgbClr val="1F2D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6BEC0-129F-F77C-A7E1-99C7E7FD9431}"/>
              </a:ext>
            </a:extLst>
          </p:cNvPr>
          <p:cNvSpPr txBox="1"/>
          <p:nvPr/>
        </p:nvSpPr>
        <p:spPr>
          <a:xfrm>
            <a:off x="777240" y="4378429"/>
            <a:ext cx="4892040" cy="55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00" b="1" i="0" dirty="0">
                <a:solidFill>
                  <a:srgbClr val="2E5A9E"/>
                </a:solidFill>
                <a:latin typeface="맑은 고딕"/>
              </a:rPr>
              <a:t>⑥ 미래예측  </a:t>
            </a:r>
            <a:r>
              <a:rPr lang="en-US" altLang="ko-KR" sz="1100" b="0" i="0" dirty="0">
                <a:solidFill>
                  <a:srgbClr val="3A3F47"/>
                </a:solidFill>
                <a:latin typeface="맑은 고딕"/>
              </a:rPr>
              <a:t>EVM </a:t>
            </a:r>
            <a:r>
              <a:rPr lang="ko-KR" altLang="en-US" sz="1100" b="0" i="0" dirty="0">
                <a:solidFill>
                  <a:srgbClr val="3A3F47"/>
                </a:solidFill>
                <a:latin typeface="맑은 고딕"/>
              </a:rPr>
              <a:t>등 잔여작업 기반 정량 예측 미적용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 dirty="0">
                <a:solidFill>
                  <a:srgbClr val="2E5A9E"/>
                </a:solidFill>
                <a:latin typeface="맑은 고딕"/>
              </a:rPr>
              <a:t>⑦ </a:t>
            </a:r>
            <a:r>
              <a:rPr sz="1100" b="1" i="0" dirty="0" err="1">
                <a:solidFill>
                  <a:srgbClr val="2E5A9E"/>
                </a:solidFill>
                <a:latin typeface="맑은 고딕"/>
              </a:rPr>
              <a:t>정보배포</a:t>
            </a:r>
            <a:r>
              <a:rPr sz="1100" b="1" i="0" dirty="0">
                <a:solidFill>
                  <a:srgbClr val="2E5A9E"/>
                </a:solidFill>
                <a:latin typeface="맑은 고딕"/>
              </a:rPr>
              <a:t>  </a:t>
            </a:r>
            <a:r>
              <a:rPr sz="1100" b="0" i="0" dirty="0" err="1">
                <a:solidFill>
                  <a:srgbClr val="3A3F47"/>
                </a:solidFill>
                <a:latin typeface="맑은 고딕"/>
              </a:rPr>
              <a:t>자동</a:t>
            </a:r>
            <a:r>
              <a:rPr sz="110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A3F47"/>
                </a:solidFill>
                <a:latin typeface="맑은 고딕"/>
              </a:rPr>
              <a:t>알림·의사소통관리계획</a:t>
            </a:r>
            <a:r>
              <a:rPr sz="1100" b="0" i="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3A3F47"/>
                </a:solidFill>
                <a:latin typeface="맑은 고딕"/>
              </a:rPr>
              <a:t>미문서화</a:t>
            </a:r>
            <a:endParaRPr sz="1100" b="0" i="0" dirty="0">
              <a:solidFill>
                <a:srgbClr val="3A3F47"/>
              </a:solidFill>
              <a:latin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0BEEB-63AA-0830-E26C-28A4EDAF7C51}"/>
              </a:ext>
            </a:extLst>
          </p:cNvPr>
          <p:cNvSpPr txBox="1"/>
          <p:nvPr/>
        </p:nvSpPr>
        <p:spPr>
          <a:xfrm>
            <a:off x="6263640" y="1325880"/>
            <a:ext cx="5422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다음</a:t>
            </a:r>
            <a:r>
              <a:rPr sz="1400" b="1" i="0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2D50"/>
                </a:solidFill>
                <a:latin typeface="맑은 고딕"/>
              </a:rPr>
              <a:t>설계</a:t>
            </a:r>
            <a:r>
              <a:rPr sz="1400" b="1" i="0" dirty="0">
                <a:solidFill>
                  <a:srgbClr val="1F2D50"/>
                </a:solidFill>
                <a:latin typeface="맑은 고딕"/>
              </a:rPr>
              <a:t> — Predict / Visibility / Resilience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BC25765D-208B-2741-FA85-12CF83880E8D}"/>
              </a:ext>
            </a:extLst>
          </p:cNvPr>
          <p:cNvSpPr/>
          <p:nvPr/>
        </p:nvSpPr>
        <p:spPr>
          <a:xfrm>
            <a:off x="6263640" y="1709928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6CF916B-F32D-AB82-6B7D-4521CF0AC092}"/>
              </a:ext>
            </a:extLst>
          </p:cNvPr>
          <p:cNvSpPr/>
          <p:nvPr/>
        </p:nvSpPr>
        <p:spPr>
          <a:xfrm>
            <a:off x="6263640" y="1709928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023AE-B2F2-B646-1B67-9A992ACC7DA9}"/>
              </a:ext>
            </a:extLst>
          </p:cNvPr>
          <p:cNvSpPr txBox="1"/>
          <p:nvPr/>
        </p:nvSpPr>
        <p:spPr>
          <a:xfrm>
            <a:off x="6537960" y="1801368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dirty="0">
                <a:solidFill>
                  <a:srgbClr val="1F2D50"/>
                </a:solidFill>
                <a:latin typeface="맑은 고딕"/>
              </a:rPr>
              <a:t>Predict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527850-0C6B-871F-A4D4-446DD99AAF06}"/>
              </a:ext>
            </a:extLst>
          </p:cNvPr>
          <p:cNvSpPr txBox="1"/>
          <p:nvPr/>
        </p:nvSpPr>
        <p:spPr>
          <a:xfrm>
            <a:off x="7772400" y="1986954"/>
            <a:ext cx="3749039" cy="4975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3A3F47"/>
                </a:solidFill>
                <a:latin typeface="맑은 고딕"/>
              </a:rPr>
              <a:t>- 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KPI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임계치·판단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규칙을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착수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시점에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명문화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. </a:t>
            </a:r>
            <a:endParaRPr lang="en-US" sz="1100" dirty="0">
              <a:solidFill>
                <a:srgbClr val="3A3F47"/>
              </a:solidFill>
              <a:latin typeface="맑은 고딕"/>
            </a:endParaRPr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3A3F47"/>
                </a:solidFill>
                <a:latin typeface="맑은 고딕"/>
              </a:rPr>
              <a:t>-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잔여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WBS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기반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완료시점·품질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리스크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정량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예측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도입</a:t>
            </a:r>
            <a:endParaRPr sz="1100" dirty="0">
              <a:solidFill>
                <a:srgbClr val="3A3F47"/>
              </a:solidFill>
              <a:latin typeface="맑은 고딕"/>
            </a:endParaRP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AE26E29-1569-28A4-FA50-8C8FA46F87AB}"/>
              </a:ext>
            </a:extLst>
          </p:cNvPr>
          <p:cNvSpPr/>
          <p:nvPr/>
        </p:nvSpPr>
        <p:spPr>
          <a:xfrm>
            <a:off x="6263640" y="2926080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41CF5C38-38BD-1334-79C4-926CE29453B6}"/>
              </a:ext>
            </a:extLst>
          </p:cNvPr>
          <p:cNvSpPr/>
          <p:nvPr/>
        </p:nvSpPr>
        <p:spPr>
          <a:xfrm>
            <a:off x="6263640" y="2926080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CBEED-699A-763F-399C-7442E9A076FB}"/>
              </a:ext>
            </a:extLst>
          </p:cNvPr>
          <p:cNvSpPr txBox="1"/>
          <p:nvPr/>
        </p:nvSpPr>
        <p:spPr>
          <a:xfrm>
            <a:off x="6537960" y="3017520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dirty="0">
                <a:solidFill>
                  <a:srgbClr val="1F2D50"/>
                </a:solidFill>
                <a:latin typeface="맑은 고딕"/>
              </a:rPr>
              <a:t>Visibility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AB15B2-8F0C-F7C0-63DF-837F68DAF573}"/>
              </a:ext>
            </a:extLst>
          </p:cNvPr>
          <p:cNvSpPr txBox="1"/>
          <p:nvPr/>
        </p:nvSpPr>
        <p:spPr>
          <a:xfrm>
            <a:off x="7772400" y="3097308"/>
            <a:ext cx="3749039" cy="7091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100" dirty="0">
                <a:solidFill>
                  <a:srgbClr val="3A3F47"/>
                </a:solidFill>
                <a:latin typeface="맑은 고딕"/>
              </a:rPr>
              <a:t>- </a:t>
            </a:r>
            <a:r>
              <a:rPr lang="ko-KR" altLang="en-US" sz="1100" dirty="0">
                <a:solidFill>
                  <a:srgbClr val="3A3F47"/>
                </a:solidFill>
                <a:latin typeface="맑은 고딕"/>
              </a:rPr>
              <a:t>시스템 기반의 관리를 통한 가시성 확보</a:t>
            </a:r>
            <a:endParaRPr lang="en-US" altLang="ko-KR" sz="1100" dirty="0">
              <a:solidFill>
                <a:srgbClr val="3A3F47"/>
              </a:solidFill>
              <a:latin typeface="맑은 고딕"/>
            </a:endParaRPr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3A3F47"/>
                </a:solidFill>
                <a:latin typeface="맑은 고딕"/>
              </a:rPr>
              <a:t>- 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REQ-WBS-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검증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상태</a:t>
            </a:r>
            <a:r>
              <a:rPr lang="en-US"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lang="ko-KR" altLang="en-US" sz="1100" dirty="0">
                <a:solidFill>
                  <a:srgbClr val="3A3F47"/>
                </a:solidFill>
                <a:latin typeface="맑은 고딕"/>
              </a:rPr>
              <a:t>가시화</a:t>
            </a:r>
            <a:endParaRPr lang="en-US" sz="1100" dirty="0">
              <a:solidFill>
                <a:srgbClr val="3A3F47"/>
              </a:solidFill>
              <a:latin typeface="맑은 고딕"/>
            </a:endParaRPr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3A3F47"/>
                </a:solidFill>
                <a:latin typeface="맑은 고딕"/>
              </a:rPr>
              <a:t>-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의사소통관리계획을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별도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수립</a:t>
            </a:r>
            <a:endParaRPr sz="1100" dirty="0">
              <a:solidFill>
                <a:srgbClr val="3A3F47"/>
              </a:solidFill>
              <a:latin typeface="맑은 고딕"/>
            </a:endParaRPr>
          </a:p>
        </p:txBody>
      </p:sp>
      <p:sp>
        <p:nvSpPr>
          <p:cNvPr id="19" name="Rounded Rectangle 20">
            <a:extLst>
              <a:ext uri="{FF2B5EF4-FFF2-40B4-BE49-F238E27FC236}">
                <a16:creationId xmlns:a16="http://schemas.microsoft.com/office/drawing/2014/main" id="{CCF585F0-C047-92A0-45DC-41AABBFB2B8D}"/>
              </a:ext>
            </a:extLst>
          </p:cNvPr>
          <p:cNvSpPr/>
          <p:nvPr/>
        </p:nvSpPr>
        <p:spPr>
          <a:xfrm>
            <a:off x="6263640" y="4142232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38D1A765-D26C-8104-0696-D1D6453522DD}"/>
              </a:ext>
            </a:extLst>
          </p:cNvPr>
          <p:cNvSpPr/>
          <p:nvPr/>
        </p:nvSpPr>
        <p:spPr>
          <a:xfrm>
            <a:off x="6263640" y="4142232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6ED4E2-7779-3477-E960-C387C2EDBF6B}"/>
              </a:ext>
            </a:extLst>
          </p:cNvPr>
          <p:cNvSpPr txBox="1"/>
          <p:nvPr/>
        </p:nvSpPr>
        <p:spPr>
          <a:xfrm>
            <a:off x="6537960" y="4233672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 dirty="0">
                <a:solidFill>
                  <a:srgbClr val="1F2D50"/>
                </a:solidFill>
                <a:latin typeface="맑은 고딕"/>
              </a:rPr>
              <a:t>Resilience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BE68A9-97E0-705C-93CB-4131E0D245F9}"/>
              </a:ext>
            </a:extLst>
          </p:cNvPr>
          <p:cNvSpPr txBox="1"/>
          <p:nvPr/>
        </p:nvSpPr>
        <p:spPr>
          <a:xfrm>
            <a:off x="7772400" y="4419258"/>
            <a:ext cx="3749039" cy="4975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3A3F47"/>
                </a:solidFill>
                <a:latin typeface="맑은 고딕"/>
              </a:rPr>
              <a:t>- </a:t>
            </a:r>
            <a:r>
              <a:rPr lang="en-US" altLang="ko-KR" sz="1100" dirty="0">
                <a:solidFill>
                  <a:srgbClr val="3A3F47"/>
                </a:solidFill>
                <a:latin typeface="맑은 고딕"/>
              </a:rPr>
              <a:t>CCB</a:t>
            </a:r>
            <a:r>
              <a:rPr lang="ko-KR" altLang="en-US" sz="1100" dirty="0">
                <a:solidFill>
                  <a:srgbClr val="3A3F47"/>
                </a:solidFill>
                <a:latin typeface="맑은 고딕"/>
              </a:rPr>
              <a:t>와 거버넌스를 무력화하는 </a:t>
            </a:r>
            <a:r>
              <a:rPr lang="en-US" altLang="ko-KR" sz="1100" dirty="0">
                <a:solidFill>
                  <a:srgbClr val="3A3F47"/>
                </a:solidFill>
                <a:latin typeface="맑은 고딕"/>
              </a:rPr>
              <a:t>CR</a:t>
            </a:r>
            <a:r>
              <a:rPr lang="ko-KR" altLang="en-US" sz="1100" dirty="0">
                <a:solidFill>
                  <a:srgbClr val="3A3F47"/>
                </a:solidFill>
                <a:latin typeface="맑은 고딕"/>
              </a:rPr>
              <a:t>을 대비하기 위해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일정·자원에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10~15%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버퍼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명시적</a:t>
            </a:r>
            <a:r>
              <a:rPr sz="1100" dirty="0">
                <a:solidFill>
                  <a:srgbClr val="3A3F47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3A3F47"/>
                </a:solidFill>
                <a:latin typeface="맑은 고딕"/>
              </a:rPr>
              <a:t>반영</a:t>
            </a:r>
            <a:endParaRPr sz="1100" dirty="0">
              <a:solidFill>
                <a:srgbClr val="3A3F47"/>
              </a:solidFill>
              <a:latin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A8C7D3-B74C-BDD1-5C86-171C0C81C5CF}"/>
              </a:ext>
            </a:extLst>
          </p:cNvPr>
          <p:cNvSpPr txBox="1"/>
          <p:nvPr/>
        </p:nvSpPr>
        <p:spPr>
          <a:xfrm>
            <a:off x="6537960" y="5007621"/>
            <a:ext cx="5041899" cy="207749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000" b="1" i="1" dirty="0">
                <a:solidFill>
                  <a:srgbClr val="1F2D50"/>
                </a:solidFill>
                <a:latin typeface="맑은 고딕"/>
              </a:rPr>
              <a:t>▶  </a:t>
            </a:r>
            <a:r>
              <a:rPr sz="1000" b="1" i="1" dirty="0" err="1">
                <a:solidFill>
                  <a:srgbClr val="1F2D50"/>
                </a:solidFill>
                <a:latin typeface="맑은 고딕"/>
              </a:rPr>
              <a:t>우연히</a:t>
            </a:r>
            <a:r>
              <a:rPr sz="1000" b="1" i="1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000" b="1" i="1" dirty="0" err="1">
                <a:solidFill>
                  <a:srgbClr val="1F2D50"/>
                </a:solidFill>
                <a:latin typeface="맑은 고딕"/>
              </a:rPr>
              <a:t>확보된</a:t>
            </a:r>
            <a:r>
              <a:rPr sz="1000" b="1" i="1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000" b="1" i="1" dirty="0" err="1">
                <a:solidFill>
                  <a:srgbClr val="1F2D50"/>
                </a:solidFill>
                <a:latin typeface="맑은 고딕"/>
              </a:rPr>
              <a:t>선행분이</a:t>
            </a:r>
            <a:r>
              <a:rPr sz="1000" b="1" i="1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000" b="1" i="1" dirty="0" err="1">
                <a:solidFill>
                  <a:srgbClr val="1F2D50"/>
                </a:solidFill>
                <a:latin typeface="맑은 고딕"/>
              </a:rPr>
              <a:t>버퍼</a:t>
            </a:r>
            <a:r>
              <a:rPr sz="1000" b="1" i="1" dirty="0">
                <a:solidFill>
                  <a:srgbClr val="1F2D50"/>
                </a:solidFill>
                <a:latin typeface="맑은 고딕"/>
              </a:rPr>
              <a:t> </a:t>
            </a:r>
            <a:r>
              <a:rPr sz="1000" b="1" i="1" dirty="0" err="1">
                <a:solidFill>
                  <a:srgbClr val="1F2D50"/>
                </a:solidFill>
                <a:latin typeface="맑은 고딕"/>
              </a:rPr>
              <a:t>역할</a:t>
            </a:r>
            <a:r>
              <a:rPr lang="en-US" sz="1000" b="1" i="1" dirty="0">
                <a:solidFill>
                  <a:srgbClr val="1F2D50"/>
                </a:solidFill>
                <a:latin typeface="맑은 고딕"/>
              </a:rPr>
              <a:t> </a:t>
            </a:r>
            <a:r>
              <a:rPr lang="en-US" sz="1000" b="1" i="1" dirty="0">
                <a:solidFill>
                  <a:srgbClr val="1F2D50"/>
                </a:solidFill>
                <a:latin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i="1" dirty="0">
                <a:solidFill>
                  <a:srgbClr val="1F2D50"/>
                </a:solidFill>
                <a:latin typeface="맑은 고딕"/>
                <a:sym typeface="Wingdings" panose="05000000000000000000" pitchFamily="2" charset="2"/>
              </a:rPr>
              <a:t>의도적 </a:t>
            </a:r>
            <a:r>
              <a:rPr sz="1000" b="1" i="1" dirty="0" err="1">
                <a:solidFill>
                  <a:srgbClr val="1F2D50"/>
                </a:solidFill>
                <a:latin typeface="맑은 고딕"/>
              </a:rPr>
              <a:t>버퍼</a:t>
            </a:r>
            <a:r>
              <a:rPr lang="ko-KR" altLang="en-US" sz="1000" b="1" i="1" dirty="0">
                <a:solidFill>
                  <a:srgbClr val="1F2D50"/>
                </a:solidFill>
                <a:latin typeface="맑은 고딕"/>
              </a:rPr>
              <a:t>설계로 관리 범위 내부로 수용</a:t>
            </a:r>
            <a:endParaRPr sz="1000" b="1" i="1" dirty="0">
              <a:solidFill>
                <a:srgbClr val="1F2D5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199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EE4D-D6B3-F74B-06C1-5D2D431D6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50497-0EEA-777F-3F1A-BB5EA58D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소감 및 제언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06D74ED-21E8-CAFF-BB80-E95E1DB12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PL vs</a:t>
            </a:r>
            <a:r>
              <a:rPr lang="ko-KR" altLang="en-US" dirty="0"/>
              <a:t> </a:t>
            </a:r>
            <a:r>
              <a:rPr lang="en-US" altLang="ko-KR" dirty="0"/>
              <a:t>PM</a:t>
            </a:r>
          </a:p>
          <a:p>
            <a:r>
              <a:rPr lang="ko-KR" altLang="en-US" dirty="0"/>
              <a:t>개발자</a:t>
            </a:r>
            <a:r>
              <a:rPr lang="en-US" altLang="ko-KR" dirty="0"/>
              <a:t>/</a:t>
            </a:r>
            <a:r>
              <a:rPr lang="ko-KR" altLang="en-US" dirty="0"/>
              <a:t>팀원 </a:t>
            </a:r>
            <a:r>
              <a:rPr lang="en-US" altLang="ko-KR" dirty="0"/>
              <a:t>vs PM</a:t>
            </a:r>
          </a:p>
          <a:p>
            <a:r>
              <a:rPr lang="en-US" altLang="ko-KR" dirty="0"/>
              <a:t>Big Project PM vs </a:t>
            </a:r>
            <a:r>
              <a:rPr lang="ko-KR" altLang="en-US" dirty="0"/>
              <a:t>탐색과제 </a:t>
            </a:r>
            <a:r>
              <a:rPr lang="en-US" altLang="ko-KR" dirty="0"/>
              <a:t>PM</a:t>
            </a:r>
          </a:p>
          <a:p>
            <a:r>
              <a:rPr lang="ko-KR" altLang="en-US" dirty="0"/>
              <a:t>팀 </a:t>
            </a:r>
            <a:r>
              <a:rPr lang="en-US" altLang="ko-KR" dirty="0"/>
              <a:t>vs </a:t>
            </a:r>
            <a:r>
              <a:rPr lang="ko-KR" altLang="en-US" dirty="0"/>
              <a:t>개인</a:t>
            </a:r>
            <a:endParaRPr lang="en-US" altLang="ko-KR" dirty="0"/>
          </a:p>
          <a:p>
            <a:r>
              <a:rPr lang="ko-KR" altLang="en-US" dirty="0"/>
              <a:t>누구나 </a:t>
            </a:r>
            <a:r>
              <a:rPr lang="en-US" altLang="ko-KR" dirty="0"/>
              <a:t>PM</a:t>
            </a:r>
            <a:r>
              <a:rPr lang="ko-KR" altLang="en-US" dirty="0"/>
              <a:t>이 될 수 있고</a:t>
            </a:r>
            <a:r>
              <a:rPr lang="en-US" altLang="ko-KR" dirty="0"/>
              <a:t>, PM</a:t>
            </a:r>
            <a:r>
              <a:rPr lang="ko-KR" altLang="en-US" dirty="0"/>
              <a:t>이 </a:t>
            </a:r>
            <a:r>
              <a:rPr lang="ko-KR" altLang="en-US" dirty="0" err="1"/>
              <a:t>되어야하지만</a:t>
            </a:r>
            <a:r>
              <a:rPr lang="en-US" altLang="ko-KR" dirty="0"/>
              <a:t>, </a:t>
            </a:r>
            <a:r>
              <a:rPr lang="ko-KR" altLang="en-US" dirty="0"/>
              <a:t>누구도 하고 싶어하지 않는 </a:t>
            </a:r>
            <a:r>
              <a:rPr lang="en-US" altLang="ko-KR" dirty="0"/>
              <a:t>PM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누구나 활용할 수 있는 기본 시스템 제공의 필요성</a:t>
            </a:r>
            <a:endParaRPr lang="en-US" altLang="ko-KR" dirty="0"/>
          </a:p>
          <a:p>
            <a:pPr lvl="1"/>
            <a:r>
              <a:rPr lang="en-US" altLang="ko-KR" dirty="0"/>
              <a:t>Confluence </a:t>
            </a:r>
            <a:r>
              <a:rPr lang="ko-KR" altLang="en-US" dirty="0"/>
              <a:t>템플릿</a:t>
            </a:r>
            <a:r>
              <a:rPr lang="en-US" altLang="ko-KR" dirty="0"/>
              <a:t>, Jira </a:t>
            </a:r>
            <a:r>
              <a:rPr lang="ko-KR" altLang="en-US" dirty="0"/>
              <a:t>프로젝트</a:t>
            </a:r>
            <a:r>
              <a:rPr lang="en-US" altLang="ko-KR" dirty="0"/>
              <a:t>, </a:t>
            </a:r>
            <a:r>
              <a:rPr lang="ko-KR" altLang="en-US" dirty="0"/>
              <a:t>산출물 저장소</a:t>
            </a:r>
            <a:endParaRPr lang="en-US" altLang="ko-KR" dirty="0"/>
          </a:p>
          <a:p>
            <a:r>
              <a:rPr lang="ko-KR" altLang="en-US" dirty="0" err="1"/>
              <a:t>책임져야하는</a:t>
            </a:r>
            <a:r>
              <a:rPr lang="ko-KR" altLang="en-US" dirty="0"/>
              <a:t> </a:t>
            </a:r>
            <a:r>
              <a:rPr lang="en-US" altLang="ko-KR" dirty="0"/>
              <a:t>PM</a:t>
            </a:r>
            <a:r>
              <a:rPr lang="ko-KR" altLang="en-US" dirty="0"/>
              <a:t>이라면 권한도 함께</a:t>
            </a:r>
            <a:endParaRPr lang="en-US" altLang="ko-KR" dirty="0"/>
          </a:p>
          <a:p>
            <a:pPr lvl="1"/>
            <a:r>
              <a:rPr lang="ko-KR" altLang="en-US" dirty="0"/>
              <a:t>상위관리자의 인식 변화 필요성</a:t>
            </a:r>
            <a:endParaRPr lang="en-US" altLang="ko-KR" dirty="0"/>
          </a:p>
          <a:p>
            <a:r>
              <a:rPr lang="ko-KR" altLang="en-US" dirty="0"/>
              <a:t>손에 손잡고</a:t>
            </a:r>
            <a:endParaRPr lang="en-US" altLang="ko-KR" dirty="0"/>
          </a:p>
          <a:p>
            <a:pPr lvl="1"/>
            <a:r>
              <a:rPr lang="en-US" altLang="ko-KR" dirty="0"/>
              <a:t>PM </a:t>
            </a:r>
            <a:r>
              <a:rPr lang="ko-KR" altLang="en-US" dirty="0"/>
              <a:t>풀 구성</a:t>
            </a:r>
            <a:r>
              <a:rPr lang="en-US" altLang="ko-KR" dirty="0"/>
              <a:t>, </a:t>
            </a:r>
            <a:r>
              <a:rPr lang="ko-KR" altLang="en-US" dirty="0"/>
              <a:t>유사 성격의 프로젝트를 담당하고 있는 </a:t>
            </a:r>
            <a:r>
              <a:rPr lang="en-US" altLang="ko-KR" dirty="0"/>
              <a:t>PM</a:t>
            </a:r>
            <a:r>
              <a:rPr lang="ko-KR" altLang="en-US" dirty="0"/>
              <a:t>들 간 공유와 연대</a:t>
            </a:r>
            <a:endParaRPr lang="en-US" altLang="ko-KR" dirty="0"/>
          </a:p>
          <a:p>
            <a:pPr lvl="1"/>
            <a:r>
              <a:rPr lang="ko-KR" altLang="en-US" dirty="0" err="1"/>
              <a:t>직군으로써의</a:t>
            </a:r>
            <a:r>
              <a:rPr lang="ko-KR" altLang="en-US" dirty="0"/>
              <a:t> </a:t>
            </a:r>
            <a:r>
              <a:rPr lang="en-US" altLang="ko-KR" dirty="0"/>
              <a:t>PM : </a:t>
            </a:r>
            <a:r>
              <a:rPr lang="ko-KR" altLang="en-US" dirty="0"/>
              <a:t>주니어 </a:t>
            </a:r>
            <a:r>
              <a:rPr lang="en-US" altLang="ko-KR" dirty="0"/>
              <a:t>PM</a:t>
            </a:r>
            <a:r>
              <a:rPr lang="ko-KR" altLang="en-US" dirty="0"/>
              <a:t>에서 시니어 </a:t>
            </a:r>
            <a:r>
              <a:rPr lang="en-US" altLang="ko-KR" dirty="0"/>
              <a:t>PM</a:t>
            </a:r>
            <a:r>
              <a:rPr lang="ko-KR" altLang="en-US" dirty="0"/>
              <a:t>으로의 성장 경로 구체화</a:t>
            </a:r>
            <a:endParaRPr lang="en-US" altLang="ko-KR" dirty="0"/>
          </a:p>
          <a:p>
            <a:pPr lvl="1"/>
            <a:r>
              <a:rPr lang="ko-KR" altLang="en-US" dirty="0"/>
              <a:t>연</a:t>
            </a:r>
            <a:r>
              <a:rPr lang="en-US" altLang="ko-KR" dirty="0"/>
              <a:t>1</a:t>
            </a:r>
            <a:r>
              <a:rPr lang="ko-KR" altLang="en-US" dirty="0"/>
              <a:t>회 </a:t>
            </a:r>
            <a:r>
              <a:rPr lang="en-US" altLang="ko-KR" dirty="0"/>
              <a:t>PM </a:t>
            </a:r>
            <a:r>
              <a:rPr lang="ko-KR" altLang="en-US" dirty="0"/>
              <a:t>페스티벌 </a:t>
            </a:r>
            <a:r>
              <a:rPr lang="en-US" altLang="ko-KR" dirty="0"/>
              <a:t>: PM </a:t>
            </a:r>
            <a:r>
              <a:rPr lang="ko-KR" altLang="en-US" dirty="0"/>
              <a:t>성공사례</a:t>
            </a:r>
            <a:r>
              <a:rPr lang="en-US" altLang="ko-KR" dirty="0"/>
              <a:t>, </a:t>
            </a:r>
            <a:r>
              <a:rPr lang="ko-KR" altLang="en-US" dirty="0"/>
              <a:t>실패사례</a:t>
            </a:r>
            <a:r>
              <a:rPr lang="en-US" altLang="ko-KR" dirty="0"/>
              <a:t>, </a:t>
            </a:r>
            <a:r>
              <a:rPr lang="ko-KR" altLang="en-US" dirty="0"/>
              <a:t>재미있고 독특한 </a:t>
            </a:r>
            <a:r>
              <a:rPr lang="en-US" altLang="ko-KR" dirty="0"/>
              <a:t>PM </a:t>
            </a:r>
            <a:r>
              <a:rPr lang="ko-KR" altLang="en-US" dirty="0"/>
              <a:t>경험들을 공유할 수 있는 자리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8D416-519C-6327-C648-D49FE199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23B3E8-5217-AC75-DD3F-66C724CD9D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en-US" altLang="ko-KR" dirty="0"/>
              <a:t>1</a:t>
            </a:r>
            <a:r>
              <a:rPr lang="ko-KR" altLang="en-US" dirty="0"/>
              <a:t>인 </a:t>
            </a:r>
            <a:r>
              <a:rPr lang="en-US" altLang="ko-KR" dirty="0"/>
              <a:t>1PM</a:t>
            </a:r>
            <a:r>
              <a:rPr lang="ko-KR" altLang="en-US" dirty="0"/>
              <a:t>의 길</a:t>
            </a:r>
          </a:p>
        </p:txBody>
      </p:sp>
    </p:spTree>
    <p:extLst>
      <p:ext uri="{BB962C8B-B14F-4D97-AF65-F5344CB8AC3E}">
        <p14:creationId xmlns:p14="http://schemas.microsoft.com/office/powerpoint/2010/main" val="3094169407"/>
      </p:ext>
    </p:extLst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사용자 지정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LG forma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디바이스커넥티비티-iWR-20230113_v03.pptx" id="{0C0851DC-A8E4-4BD1-9481-B912004B3666}" vid="{D1D752AD-3C8E-4D68-92F2-DE34566DBB8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61</TotalTime>
  <Words>1626</Words>
  <Application>Microsoft Office PowerPoint</Application>
  <PresentationFormat>와이드스크린</PresentationFormat>
  <Paragraphs>283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-apple-system</vt:lpstr>
      <vt:lpstr>굴림</vt:lpstr>
      <vt:lpstr>맑은 고딕</vt:lpstr>
      <vt:lpstr>Arial</vt:lpstr>
      <vt:lpstr>Arial Narrow</vt:lpstr>
      <vt:lpstr>Calibri</vt:lpstr>
      <vt:lpstr>Wingdings</vt:lpstr>
      <vt:lpstr>4_디자인 사용자 지정</vt:lpstr>
      <vt:lpstr>On-Device AI Hub를 위한 스마트 플러그 PoC 개발 보고 LG SW PM역량정의서 기반 프로젝트관리 수행 사례</vt:lpstr>
      <vt:lpstr>On-Device AI Hub를 위한 스마트 플러그 PoC 개발 </vt:lpstr>
      <vt:lpstr>프로젝트 관리 현황</vt:lpstr>
      <vt:lpstr>프로젝트 관리 현황</vt:lpstr>
      <vt:lpstr>프로젝트 관리 현황</vt:lpstr>
      <vt:lpstr>프로젝트 관리 현황</vt:lpstr>
      <vt:lpstr>프로젝트 관리 현황</vt:lpstr>
      <vt:lpstr>프로젝트 관리 현황</vt:lpstr>
      <vt:lpstr>종합</vt:lpstr>
      <vt:lpstr>소감 및 제언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황인휘/책임연구원/HS/ES선행(연)Interactive Home Solution Task</dc:creator>
  <cp:lastModifiedBy>황인휘/책임연구원/HS/ES선행(연)Interactive Home Solution Task</cp:lastModifiedBy>
  <cp:revision>4</cp:revision>
  <dcterms:created xsi:type="dcterms:W3CDTF">2026-06-18T05:32:32Z</dcterms:created>
  <dcterms:modified xsi:type="dcterms:W3CDTF">2026-06-19T02:30:25Z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2026-06-18T09:17:04Z</vt:lpwstr>
  </property>
  <property fmtid="{D5CDD505-2E9C-101B-9397-08002B2CF9AE}" pid="4" name="MSIP_Label_cc6ed9fc-fefc-4a0c-a6d6-10cf236c0d4f_Method">
    <vt:lpwstr>Privileged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1581a6a4-d807-4001-8fb2-a4c30bf018df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4_디자인 사용자 지정:6</vt:lpwstr>
  </property>
  <property fmtid="{D5CDD505-2E9C-101B-9397-08002B2CF9AE}" pid="10" name="ClassificationContentMarkingHeaderText">
    <vt:lpwstr>LGE Internal Use Only</vt:lpwstr>
  </property>
</Properties>
</file>