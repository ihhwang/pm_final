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65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BB666-213B-378E-68E4-6E6CD48DEFB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54864" cy="68580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EAF0F9"/>
                </a:solidFill>
                <a:latin typeface="맑은 고딕"/>
              </a:rPr>
              <a:t>PM </a:t>
            </a:r>
            <a:r>
              <a:rPr sz="1400" b="1" i="0" dirty="0" err="1">
                <a:solidFill>
                  <a:srgbClr val="EAF0F9"/>
                </a:solidFill>
                <a:latin typeface="맑은 고딕"/>
              </a:rPr>
              <a:t>역량</a:t>
            </a:r>
            <a:r>
              <a:rPr sz="1400" b="1" i="0" dirty="0">
                <a:solidFill>
                  <a:srgbClr val="EAF0F9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EAF0F9"/>
                </a:solidFill>
                <a:latin typeface="맑은 고딕"/>
              </a:rPr>
              <a:t>인증</a:t>
            </a:r>
            <a:r>
              <a:rPr sz="1400" b="1" i="0" dirty="0">
                <a:solidFill>
                  <a:srgbClr val="EAF0F9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EAF0F9"/>
                </a:solidFill>
                <a:latin typeface="맑은 고딕"/>
              </a:rPr>
              <a:t>발표</a:t>
            </a:r>
            <a:endParaRPr sz="1400" b="1" i="0" dirty="0">
              <a:solidFill>
                <a:srgbClr val="EAF0F9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3832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직함이 아니라,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수행한 기능으로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보여드립니다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246120"/>
            <a:ext cx="2834640" cy="0"/>
          </a:xfrm>
          <a:prstGeom prst="line">
            <a:avLst/>
          </a:prstGeom>
          <a:ln w="12700">
            <a:solidFill>
              <a:srgbClr val="4A57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42900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D2E3"/>
                </a:solidFill>
                <a:latin typeface="맑은 고딕"/>
              </a:rPr>
              <a:t>On-Device AI Hub를 위한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스마트 플러그 PoC 개발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EB8CC"/>
                </a:solidFill>
                <a:latin typeface="맑은 고딕"/>
              </a:rPr>
              <a:t>황인휘  ·  총 9장  ·  15분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59436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5A9E"/>
                </a:solidFill>
                <a:latin typeface="맑은 고딕"/>
              </a:rPr>
              <a:t>과제 개요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663440" y="960120"/>
          <a:ext cx="7040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과제 목표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스마트 플러그 PoC SW 개발 및 On-Device AI Hub 연동 시연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2025.04.01 ~ 2025.12.10 (계획 대비 2주 연장)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팀 구성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상근 4명(PL/PM 1 + SW개발 3), 비상근 3명 / 총 23MM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관리 방식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Waterfall / Confluence 기반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핵심 제약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공식 PM 타이틀 없이 PL이 관리 기능 수행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663440" y="3611880"/>
            <a:ext cx="7040880" cy="150876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80" y="3767328"/>
            <a:ext cx="6400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 i="0">
                <a:solidFill>
                  <a:srgbClr val="1F2D50"/>
                </a:solidFill>
                <a:latin typeface="맑은 고딕"/>
              </a:rPr>
              <a:t>이 발표는 직함이 아니라 관리 기능의 수행 여부로 PM 역량을 증빙합니다.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</a:rPr>
              <a:t>요구사항부터 종료까지, 한 단계의 결과가 다음 단계의 판단 근거가 되는 과정을 그대로 보여드리겠습니다.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34924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5A9E"/>
                </a:solidFill>
                <a:latin typeface="맑은 고딕"/>
              </a:rPr>
              <a:t>발표 구조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요구사항·추적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61939" y="6002121"/>
            <a:ext cx="146304" cy="102412"/>
          </a:xfrm>
          <a:prstGeom prst="rightArrow">
            <a:avLst/>
          </a:pr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55208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00928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계획·통합(CR)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53707" y="6002121"/>
            <a:ext cx="146304" cy="102412"/>
          </a:xfrm>
          <a:prstGeom prst="rightArrow">
            <a:avLst/>
          </a:pr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046976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92696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대시보드·예측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145475" y="6002121"/>
            <a:ext cx="146304" cy="102412"/>
          </a:xfrm>
          <a:prstGeom prst="rightArrow">
            <a:avLst/>
          </a:pr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38744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84464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참여·소통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37243" y="6002121"/>
            <a:ext cx="146304" cy="102412"/>
          </a:xfrm>
          <a:prstGeom prst="rightArrow">
            <a:avLst/>
          </a:pr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430512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76232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종료·교훈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529011" y="6002121"/>
            <a:ext cx="146304" cy="102412"/>
          </a:xfrm>
          <a:prstGeom prst="rightArrow">
            <a:avLst/>
          </a:pr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622280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68000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종합·Q&amp;A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① 요구사항 정합성 · ② 추적성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44개의 합의, 그리고 그 합의를 끝까지 추적한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02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정합성 — 무엇을 합의했는가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09928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09928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Stakeholder Needs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104388" y="2237536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2377440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</a:rPr>
              <a:t>44개 REQ 확정</a:t>
            </a:r>
            <a:r>
              <a:rPr sz="1100">
                <a:solidFill>
                  <a:srgbClr val="C9D2E3"/>
                </a:solidFill>
                <a:latin typeface="맑은 고딕"/>
              </a:rPr>
              <a:t>   PLG 27 + HUB 17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04388" y="2905048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3044952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44952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우선순위 분류</a:t>
            </a:r>
            <a:r>
              <a:rPr sz="1100">
                <a:solidFill>
                  <a:srgbClr val="6B727C"/>
                </a:solidFill>
                <a:latin typeface="맑은 고딕"/>
              </a:rPr>
              <a:t>   P0 / P1 / P2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04388" y="3572560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3712464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712464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공식 승인</a:t>
            </a:r>
            <a:r>
              <a:rPr sz="1100">
                <a:solidFill>
                  <a:srgbClr val="6B727C"/>
                </a:solidFill>
                <a:latin typeface="맑은 고딕"/>
              </a:rPr>
              <a:t>   TL(4/24) · iLab장(4/29)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425696"/>
            <a:ext cx="5349240" cy="96012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4498848"/>
            <a:ext cx="4946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F2D50"/>
                </a:solidFill>
                <a:latin typeface="맑은 고딕"/>
              </a:rPr>
              <a:t>검증 기준 — 이유와 한계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3A3F47"/>
                </a:solidFill>
                <a:latin typeface="맑은 고딕"/>
              </a:rPr>
              <a:t>PoC 범위 제외 기준(4.3 §1.3)에 따라 핵심 기능은 WBS 단위 DoD로 검증. 정식 테스트 설계(경계값·회귀 등)는 도입하지 못해 다음 단계 개선 과제로 남음.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298448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추적성 — 합의를 어떻게 놓치지 않았는가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709928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1709928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1F2D50"/>
                </a:solidFill>
                <a:latin typeface="맑은 고딕"/>
              </a:rPr>
              <a:t>PLG_REQ_013</a:t>
            </a:r>
            <a:r>
              <a:rPr sz="1050">
                <a:solidFill>
                  <a:srgbClr val="6B727C"/>
                </a:solidFill>
                <a:latin typeface="맑은 고딕"/>
              </a:rPr>
              <a:t>   기동어 인식 결과 처리 (P0)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956548" y="2237536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55080" y="2377440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2377440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1F2D50"/>
                </a:solidFill>
                <a:latin typeface="맑은 고딕"/>
              </a:rPr>
              <a:t>PLG_WBS_037 / 038 / 039</a:t>
            </a:r>
            <a:r>
              <a:rPr sz="1050">
                <a:solidFill>
                  <a:srgbClr val="6B727C"/>
                </a:solidFill>
                <a:latin typeface="맑은 고딕"/>
              </a:rPr>
              <a:t>   구현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956548" y="2905048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55080" y="3044952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3044952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1F2D50"/>
                </a:solidFill>
                <a:latin typeface="맑은 고딕"/>
              </a:rPr>
              <a:t>DoD</a:t>
            </a:r>
            <a:r>
              <a:rPr sz="1050">
                <a:solidFill>
                  <a:srgbClr val="6B727C"/>
                </a:solidFill>
                <a:latin typeface="맑은 고딕"/>
              </a:rPr>
              <a:t>   code commit + 동작 확인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956548" y="3572560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55080" y="3712464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2E5A9E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3712464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맑은 고딕"/>
              </a:rPr>
              <a:t>5.3 MS#4 기능 적합성 PASS</a:t>
            </a:r>
            <a:r>
              <a:rPr sz="1050">
                <a:solidFill>
                  <a:srgbClr val="DCE6F5"/>
                </a:solidFill>
                <a:latin typeface="맑은 고딕"/>
              </a:rPr>
              <a:t>   TL 승인 (9/30)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425696"/>
            <a:ext cx="5349240" cy="9601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56248" y="4498848"/>
            <a:ext cx="4946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</a:rPr>
              <a:t>추적 요구사항 </a:t>
            </a:r>
            <a:r>
              <a:rPr sz="1500" b="1" i="0">
                <a:solidFill>
                  <a:srgbClr val="2E5A9E"/>
                </a:solidFill>
                <a:latin typeface="맑은 고딕"/>
              </a:rPr>
              <a:t>47개</a:t>
            </a:r>
            <a:r>
              <a:rPr sz="1300" b="0" i="0">
                <a:solidFill>
                  <a:srgbClr val="3A3F47"/>
                </a:solidFill>
                <a:latin typeface="맑은 고딕"/>
              </a:rPr>
              <a:t>  ·  연결 WBS </a:t>
            </a:r>
            <a:r>
              <a:rPr sz="1500" b="1" i="0">
                <a:solidFill>
                  <a:srgbClr val="2E5A9E"/>
                </a:solidFill>
                <a:latin typeface="맑은 고딕"/>
              </a:rPr>
              <a:t>65개</a:t>
            </a:r>
            <a:r>
              <a:rPr sz="1300" b="0" i="0">
                <a:solidFill>
                  <a:srgbClr val="3A3F47"/>
                </a:solidFill>
                <a:latin typeface="맑은 고딕"/>
              </a:rPr>
              <a:t>  ·  누락 </a:t>
            </a:r>
            <a:r>
              <a:rPr sz="1500" b="1" i="0">
                <a:solidFill>
                  <a:srgbClr val="2E7D32"/>
                </a:solidFill>
                <a:latin typeface="맑은 고딕"/>
              </a:rPr>
              <a:t>0건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B727C"/>
                </a:solidFill>
                <a:latin typeface="맑은 고딕"/>
              </a:rPr>
              <a:t>CR-01/02 반영 후에도 전체 추적 유지 확인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150" b="1" i="1">
                <a:solidFill>
                  <a:srgbClr val="1F2D50"/>
                </a:solidFill>
                <a:latin typeface="맑은 고딕"/>
              </a:rPr>
              <a:t>▶  이 추적 체계가, 8월에 닥친 변경 요청의 영향을 즉시 계산할 수 있는 기반이 되었습니다.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③ 계획수립 · ④ 통합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합의된 기준이 있었기에, 빠르게 따져볼 수 있었다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03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3A3F47"/>
                </a:solidFill>
                <a:latin typeface="맑은 고딕"/>
              </a:rPr>
              <a:t>8/11~12, iLab장·TL 요청으로 시연 시나리오 통합(CR-01) 및 플러그 4:1 확장(CR-02) 발생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영향도 분석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011680"/>
          <a:ext cx="69494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영향 내용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Score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PM 1차 의견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최종 결정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범위·일정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신규 구현 4주+, 검증 2주 추가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불수용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성능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멀티카메라 연동 네트워크 지연 리스크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불수용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수용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타 과제 기개발 모듈 통합 일정 리스크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불수용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3456432"/>
            <a:ext cx="6949440" cy="56692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456432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1F2D50"/>
                </a:solidFill>
                <a:latin typeface="맑은 고딕"/>
              </a:rPr>
              <a:t>결정 근거  </a:t>
            </a:r>
            <a:r>
              <a:rPr sz="1150">
                <a:solidFill>
                  <a:srgbClr val="3A3F47"/>
                </a:solidFill>
                <a:latin typeface="맑은 고딕"/>
              </a:rPr>
              <a:t>조직 비즈니스 목표(사업부 기술 바잉 설득) 우선 판단에 따라 CCB에서 수용 결정 (8/12)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2452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수용 직후 4단계 조치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D50"/>
                </a:solidFill>
                <a:latin typeface="맑은 고딕"/>
              </a:rPr>
              <a:t>CCB 수용 결정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141524" y="4942332"/>
            <a:ext cx="182880" cy="128015"/>
          </a:xfrm>
          <a:prstGeom prst="right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24028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3172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D50"/>
                </a:solidFill>
                <a:latin typeface="맑은 고딕"/>
              </a:rPr>
              <a:t>영향도 분석 문서화</a:t>
            </a:r>
          </a:p>
          <a:p>
            <a:pPr algn="ctr"/>
            <a:r>
              <a:rPr sz="900">
                <a:solidFill>
                  <a:srgbClr val="6B727C"/>
                </a:solidFill>
                <a:latin typeface="맑은 고딕"/>
              </a:rPr>
              <a:t>6.1 §4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78884" y="4942332"/>
            <a:ext cx="182880" cy="128015"/>
          </a:xfrm>
          <a:prstGeom prst="right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97764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6908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기준선 재설정</a:t>
            </a:r>
          </a:p>
          <a:p>
            <a:pPr algn="ctr"/>
            <a:r>
              <a:rPr sz="900">
                <a:solidFill>
                  <a:srgbClr val="C9D2E3"/>
                </a:solidFill>
                <a:latin typeface="맑은 고딕"/>
              </a:rPr>
              <a:t>WBS 61→64개, 종료일 +14일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616244" y="4942332"/>
            <a:ext cx="182880" cy="128015"/>
          </a:xfrm>
          <a:prstGeom prst="right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1500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0644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D50"/>
                </a:solidFill>
                <a:latin typeface="맑은 고딕"/>
              </a:rPr>
              <a:t>추적매트릭스·대시보드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691640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일정 편차 분석 (V1 → V2)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0" y="2011680"/>
          <a:ext cx="39136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계획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V1 (8/1, CR 직전)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WBS 12개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15개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+3개 선행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V2 (12/9, 종료)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WBS 64개 / 12/01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61개 / 12/09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-3개 / +8일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150" b="1" i="1">
                <a:solidFill>
                  <a:srgbClr val="1F2D50"/>
                </a:solidFill>
                <a:latin typeface="맑은 고딕"/>
              </a:rPr>
              <a:t>▶  기준선이 바뀌자, 그 다음부터 우리가 추적해야 할 숫자 자체가 달라졌습니다.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⑤ 대시보드 현재 · ⑥ 미래예측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바뀐 기준 위에서, 무엇을 보고 무엇을 결정했는가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04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KPI 3종 — 판단·조치 체인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2D50"/>
                </a:solidFill>
                <a:latin typeface="맑은 고딕"/>
              </a:rPr>
              <a:t>기능구현완료율 95%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41932" y="2133295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2240280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D50"/>
                </a:solidFill>
                <a:latin typeface="맑은 고딕"/>
              </a:rPr>
              <a:t>미달 5%는 시연 핵심 외 항목 → 시연 가능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741932" y="2709367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2816352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81635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D50"/>
                </a:solidFill>
                <a:latin typeface="맑은 고딕"/>
              </a:rPr>
              <a:t>미완료 항목 시연 범위 외 분류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741932" y="3285439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3392424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392424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시연 100%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1664208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0" y="1664208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2D50"/>
                </a:solidFill>
                <a:latin typeface="맑은 고딕"/>
              </a:rPr>
              <a:t>주요 결함 C급 2건 (A·B급 0건)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576572" y="2133295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337560" y="2240280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0" y="2240280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D50"/>
                </a:solidFill>
                <a:latin typeface="맑은 고딕"/>
              </a:rPr>
              <a:t>허용 범위 내 Closed 처리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576572" y="2709367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337560" y="2816352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0" y="281635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A·B급 0건 유지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298448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일정 편차 — V1/V2 비교 (CR 전후 연결)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263640" y="1664208"/>
          <a:ext cx="5440679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계획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V1 (8/1, CR 발생 직전)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WBS 12개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15개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+3개 선행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V2 (12/9, 종료)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WBS 64개 / 12/01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61개 / 12/09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-3개 / +8일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6263640" y="3172967"/>
            <a:ext cx="5440680" cy="155448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9672" y="3310127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2D50"/>
                </a:solidFill>
                <a:latin typeface="맑은 고딕"/>
              </a:rPr>
              <a:t>7.5 대시보드 원문  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3A3F47"/>
                </a:solidFill>
                <a:latin typeface="맑은 고딕"/>
              </a:rPr>
              <a:t>"PLG 15개 완료(계획 대비 3개 선행)는 </a:t>
            </a:r>
            <a:r>
              <a:rPr sz="1100" b="1" i="1">
                <a:solidFill>
                  <a:srgbClr val="1F2D50"/>
                </a:solidFill>
                <a:latin typeface="맑은 고딕"/>
              </a:rPr>
              <a:t>CR-01/02 발생 후 대응 여력 확보에 기여함</a:t>
            </a:r>
            <a:r>
              <a:rPr sz="1100" b="0" i="0">
                <a:solidFill>
                  <a:srgbClr val="3A3F47"/>
                </a:solidFill>
                <a:latin typeface="맑은 고딕"/>
              </a:rPr>
              <a:t>."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B727C"/>
                </a:solidFill>
                <a:latin typeface="맑은 고딕"/>
              </a:rPr>
              <a:t>미래 예측 기법(EVM 등 잔여작업 기반 정량 예측)은 이번 과제에 도입하지 못한 부분이며, S7 개선 기회에서 다룹니다.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150" b="1" i="1">
                <a:solidFill>
                  <a:srgbClr val="1F2D50"/>
                </a:solidFill>
                <a:latin typeface="맑은 고딕"/>
              </a:rPr>
              <a:t>▶  이 KPI 판단이, 통제 가능한 영역에 자원을 쓰는 다음 선택으로 이어졌습니다.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⑦ 정보배포 · ⑧ 이해관계자참여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통제 가능한 영역에 자원을 쓰기로 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05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참여 활동 실적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64208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채널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주기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주간 팀미팅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TL, 개발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매주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31회 / 참석률 100%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주간 랩보고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iLab장, TL, 기획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매주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28회 / 참석률 100%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게이트 리뷰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전체 이해관계자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최소 2회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3회 진행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21868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7C"/>
                </a:solidFill>
                <a:latin typeface="맑은 고딕"/>
              </a:rPr>
              <a:t>정보 배포: Collab(문서)·GitLab(소스) 중앙화 — 게이트 산출물 최종본 전체 반영(2.2)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판단 — CR 이후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41648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CR-01/02는 정기 채널 외, 최상위 이해관계자의 권한 행사로 발생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86684" y="4465929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4535424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535424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통제 가능 영역과 불가능 영역을 구분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86684" y="4959705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5029200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029200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예방(채널·빈도 조정) → 효용 없음으로 판단, 폐기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186684" y="5453481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" y="5522976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522976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선택: S4에서 확보된 +3개 선행분을 버퍼로 흡수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186684" y="5947257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6016752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6016752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맑은 고딕"/>
              </a:rPr>
              <a:t>추가 인력 없이 기존 4인으로 대응 완료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298448"/>
            <a:ext cx="5285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통제 가능 / 불가능 영역 구분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709928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1874520"/>
            <a:ext cx="219456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B02A37"/>
                </a:solidFill>
                <a:latin typeface="맑은 고딕"/>
              </a:rPr>
              <a:t>통제 불가능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0" i="0">
                <a:solidFill>
                  <a:srgbClr val="3A3F47"/>
                </a:solidFill>
                <a:latin typeface="맑은 고딕"/>
              </a:rPr>
              <a:t>최상위 이해관계자의 직접 권한 행사(CR-01/02 발생 경로)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6B727C"/>
                </a:solidFill>
                <a:latin typeface="맑은 고딕"/>
              </a:rPr>
              <a:t>✗ 채널·빈도 조정으로 예방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>
                <a:solidFill>
                  <a:srgbClr val="6B727C"/>
                </a:solidFill>
                <a:latin typeface="맑은 고딕"/>
              </a:rPr>
              <a:t>→ 효용 없음으로 판단, 폐기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1709928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 w="12700">
            <a:solidFill>
              <a:srgbClr val="2E5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08592" y="1874520"/>
            <a:ext cx="219456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맑은 고딕"/>
              </a:rPr>
              <a:t>통제 가능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0" i="0">
                <a:solidFill>
                  <a:srgbClr val="3A3F47"/>
                </a:solidFill>
                <a:latin typeface="맑은 고딕"/>
              </a:rPr>
              <a:t>일정·자원 버퍼의 확보와 배분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F2D50"/>
                </a:solidFill>
                <a:latin typeface="맑은 고딕"/>
              </a:rPr>
              <a:t>✔ +3개 선행분을 버퍼로 흡수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>
                <a:solidFill>
                  <a:srgbClr val="1F2D50"/>
                </a:solidFill>
                <a:latin typeface="맑은 고딕"/>
              </a:rPr>
              <a:t>→ 추가 인력 없이 기존 4인 대응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150" b="1" i="1">
                <a:solidFill>
                  <a:srgbClr val="1F2D50"/>
                </a:solidFill>
                <a:latin typeface="맑은 고딕"/>
              </a:rPr>
              <a:t>▶  이 버퍼 흡수 판단이, 종료 시점에 "무엇을 기준으로 끝났다고 할 것인가"의 답이 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⑨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무엇을 먼저 보고 종료를 선언했는가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06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100%</a:t>
            </a:r>
          </a:p>
          <a:p>
            <a:pPr algn="ctr"/>
            <a:r>
              <a:rPr sz="1100" b="1">
                <a:solidFill>
                  <a:srgbClr val="E3E8F2"/>
                </a:solidFill>
                <a:latin typeface="맑은 고딕"/>
              </a:rPr>
              <a:t>핵심 시연 시나리오</a:t>
            </a:r>
          </a:p>
          <a:p>
            <a:pPr algn="ctr"/>
            <a:r>
              <a:rPr sz="950" i="1">
                <a:solidFill>
                  <a:srgbClr val="AEC0DE"/>
                </a:solidFill>
                <a:latin typeface="맑은 고딕"/>
              </a:rPr>
              <a:t>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28416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0건</a:t>
            </a:r>
          </a:p>
          <a:p>
            <a:pPr algn="ctr"/>
            <a:r>
              <a:rPr sz="1100" b="1">
                <a:solidFill>
                  <a:srgbClr val="E3E8F2"/>
                </a:solidFill>
                <a:latin typeface="맑은 고딕"/>
              </a:rPr>
              <a:t>A·B급 결함</a:t>
            </a:r>
          </a:p>
          <a:p>
            <a:pPr algn="ctr"/>
            <a:r>
              <a:rPr sz="950" i="1">
                <a:solidFill>
                  <a:srgbClr val="AEC0DE"/>
                </a:solidFill>
                <a:latin typeface="맑은 고딕"/>
              </a:rPr>
              <a:t>목표 달성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3912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완료</a:t>
            </a:r>
          </a:p>
          <a:p>
            <a:pPr algn="ctr"/>
            <a:r>
              <a:rPr sz="1100" b="1">
                <a:solidFill>
                  <a:srgbClr val="E3E8F2"/>
                </a:solidFill>
                <a:latin typeface="맑은 고딕"/>
              </a:rPr>
              <a:t>이해관계자 승인</a:t>
            </a:r>
          </a:p>
          <a:p>
            <a:pPr algn="ctr"/>
            <a:r>
              <a:rPr sz="950" i="1">
                <a:solidFill>
                  <a:srgbClr val="AEC0DE"/>
                </a:solidFill>
                <a:latin typeface="맑은 고딕"/>
              </a:rPr>
              <a:t>11/30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8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79408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6B727C"/>
                </a:solidFill>
                <a:latin typeface="맑은 고딕"/>
              </a:rPr>
              <a:t>95.3%</a:t>
            </a:r>
          </a:p>
          <a:p>
            <a:pPr algn="ctr"/>
            <a:r>
              <a:rPr sz="1100" b="1">
                <a:solidFill>
                  <a:srgbClr val="3A3F47"/>
                </a:solidFill>
                <a:latin typeface="맑은 고딕"/>
              </a:rPr>
              <a:t>WBS 완료율(보조)</a:t>
            </a:r>
          </a:p>
          <a:p>
            <a:pPr algn="ctr"/>
            <a:r>
              <a:rPr sz="950" i="1">
                <a:solidFill>
                  <a:srgbClr val="6B727C"/>
                </a:solidFill>
                <a:latin typeface="맑은 고딕"/>
              </a:rPr>
              <a:t>미완 3개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4320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종료 판단 — 핵심 지표 선행, 보조 지표 후행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127248"/>
          <a:ext cx="1118311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핵심 시연 시나리오 (CR로 확장된 범위)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음성제어·인터컴·멀티플러그 4:1 통합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맑은 고딕"/>
                        </a:rPr>
                        <a:t>100% 달성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A·B급 결함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0건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맑은 고딕"/>
                        </a:rPr>
                        <a:t>0건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이해관계자 최종 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iLab장 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맑은 고딕"/>
                        </a:rPr>
                        <a:t>완료 (11/30)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i="1">
                          <a:solidFill>
                            <a:srgbClr val="6B727C"/>
                          </a:solidFill>
                          <a:latin typeface="맑은 고딕"/>
                        </a:rPr>
                        <a:t>WBS 완료율 (보조 지표)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B727C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B727C"/>
                          </a:solidFill>
                          <a:latin typeface="맑은 고딕"/>
                        </a:rPr>
                        <a:t>95.3% (미완료 3개, 고도화)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7C"/>
                </a:solidFill>
                <a:latin typeface="맑은 고딕"/>
              </a:rPr>
              <a:t>종료 기준서(1.4) §2.4 — iLab장 최종 승인 완료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150" b="1" i="1">
                <a:solidFill>
                  <a:srgbClr val="1F2D50"/>
                </a:solidFill>
                <a:latin typeface="맑은 고딕"/>
              </a:rPr>
              <a:t>▶  이 시연 범위 자체가 S3의 CR 결정으로 확장된 결과입니다. 변경이 곧 이 과제가 도달한 최종 목표의 정의였습니다.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⑩ 교훈/회고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같은 일이 또 생긴다면, 무엇을 먼저 바꿀 것인가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07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핵심 교훈 3건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핵심 내용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LL_01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방법론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요구사항 변동성 높은 과제는 Agile/Hybrid가 적합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LL_05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일정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CR 후 신규 WBS 세분화 원칙을 PM이 리더십으로 관철해야 함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LL_11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이해관계자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최상위 이해관계자 변경 리스크는 전략 조정이 아닌 버퍼로 흡수해야 함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3832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정직하게 인정하는 개선 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49040"/>
            <a:ext cx="5440680" cy="2606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3749040"/>
            <a:ext cx="5440680" cy="77724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858768"/>
            <a:ext cx="4892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잔여작업 기반 정량 예측(EVM 등) 미적용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40964" y="4617720"/>
            <a:ext cx="164592" cy="16459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A3F47"/>
                </a:solidFill>
                <a:latin typeface="맑은 고딕"/>
              </a:rPr>
              <a:t>완료시점·품질 리스크 사전예측 체계 부재가 개선 과제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715000"/>
            <a:ext cx="4892040" cy="0"/>
          </a:xfrm>
          <a:prstGeom prst="line">
            <a:avLst/>
          </a:prstGeom>
          <a:ln w="9525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5833871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1">
                <a:solidFill>
                  <a:srgbClr val="2E5A9E"/>
                </a:solidFill>
                <a:latin typeface="맑은 고딕"/>
              </a:rPr>
              <a:t>⑥ 미래예측 — S8 Predict 카드에서 보완 설계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40"/>
            <a:ext cx="5440680" cy="2606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45352" y="3749040"/>
            <a:ext cx="5440680" cy="77724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2" y="3858768"/>
            <a:ext cx="4892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자동 알림·의사소통관리계획 부재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883396" y="4617720"/>
            <a:ext cx="164592" cy="16459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9672" y="489204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A3F47"/>
                </a:solidFill>
                <a:latin typeface="맑은 고딕"/>
              </a:rPr>
              <a:t>Collab/GitLab 중앙화에는 의존했으나 배포 체계는 미문서화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19672" y="5715000"/>
            <a:ext cx="4892040" cy="0"/>
          </a:xfrm>
          <a:prstGeom prst="line">
            <a:avLst/>
          </a:prstGeom>
          <a:ln w="9525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19672" y="5833871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1">
                <a:solidFill>
                  <a:srgbClr val="2E5A9E"/>
                </a:solidFill>
                <a:latin typeface="맑은 고딕"/>
              </a:rPr>
              <a:t>⑦ 정보배포 — S8 Visibility 카드에서 보완 설계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전체 종합 — 성과 ①~⑩ / 개선 기회 ⑥⑦ 중심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증명된 것과, 다음에 설계할 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08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성과 — 수치 근거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5440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관리 영역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수행 수준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요구사항 정의·승인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44개, 공식 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3.3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변경 영향도 분석·통제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정량 분석 + CCB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6.1 §4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리스크→이슈 전환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7건 전수 추적, 전원 Closed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9.1/9.4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단계별 검증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7차 마일스톤 전 단계 PASS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5.3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3840480"/>
            <a:ext cx="5440680" cy="141732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1F2D50"/>
                </a:solidFill>
                <a:latin typeface="맑은 고딕"/>
              </a:rPr>
              <a:t>정직하게 인정한 개선 기회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1" i="0">
                <a:solidFill>
                  <a:srgbClr val="2E5A9E"/>
                </a:solidFill>
                <a:latin typeface="맑은 고딕"/>
              </a:rPr>
              <a:t>⑥ 미래예측  </a:t>
            </a:r>
            <a:r>
              <a:rPr sz="1100" b="0" i="0">
                <a:solidFill>
                  <a:srgbClr val="3A3F47"/>
                </a:solidFill>
                <a:latin typeface="맑은 고딕"/>
              </a:rPr>
              <a:t>EVM 등 잔여작업 기반 정량 예측 미적용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i="0">
                <a:solidFill>
                  <a:srgbClr val="2E5A9E"/>
                </a:solidFill>
                <a:latin typeface="맑은 고딕"/>
              </a:rPr>
              <a:t>⑦ 정보배포  </a:t>
            </a:r>
            <a:r>
              <a:rPr sz="1100" b="0" i="0">
                <a:solidFill>
                  <a:srgbClr val="3A3F47"/>
                </a:solidFill>
                <a:latin typeface="맑은 고딕"/>
              </a:rPr>
              <a:t>자동 알림·의사소통관리계획 미문서화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422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다음 설계 — Predict / Visibility / Resilience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09928"/>
            <a:ext cx="54223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709928"/>
            <a:ext cx="73152" cy="1051560"/>
          </a:xfrm>
          <a:prstGeom prst="rect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801368"/>
            <a:ext cx="1188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>
                <a:solidFill>
                  <a:srgbClr val="1F2D50"/>
                </a:solidFill>
                <a:latin typeface="맑은 고딕"/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01368"/>
            <a:ext cx="374903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3A3F47"/>
                </a:solidFill>
                <a:latin typeface="맑은 고딕"/>
              </a:rPr>
              <a:t>KPI 임계치·판단 규칙을 착수 시점에 명문화. 잔여 WBS 기반 완료시점·품질 리스크 정량 예측 도입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926080"/>
            <a:ext cx="54223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73152" cy="1051560"/>
          </a:xfrm>
          <a:prstGeom prst="rect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017520"/>
            <a:ext cx="1188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>
                <a:solidFill>
                  <a:srgbClr val="1F2D50"/>
                </a:solidFill>
                <a:latin typeface="맑은 고딕"/>
              </a:rPr>
              <a:t>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017520"/>
            <a:ext cx="374903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3A3F47"/>
                </a:solidFill>
                <a:latin typeface="맑은 고딕"/>
              </a:rPr>
              <a:t>REQ-WBS-검증 상태를 단일 화면에서 확인 가능하게 구성. 의사소통관리계획을 별도 수립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142232"/>
            <a:ext cx="54223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4142232"/>
            <a:ext cx="73152" cy="1051560"/>
          </a:xfrm>
          <a:prstGeom prst="rect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4233672"/>
            <a:ext cx="1188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>
                <a:solidFill>
                  <a:srgbClr val="1F2D50"/>
                </a:solidFill>
                <a:latin typeface="맑은 고딕"/>
              </a:rPr>
              <a:t>Resilience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233672"/>
            <a:ext cx="374903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3A3F47"/>
                </a:solidFill>
                <a:latin typeface="맑은 고딕"/>
              </a:rPr>
              <a:t>최상위 이해관계자 변경 가능성을 착수 시점 리스크로 등록, 일정·자원에 10~15% 버퍼 명시적 반영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150" b="1" i="1">
                <a:solidFill>
                  <a:srgbClr val="1F2D50"/>
                </a:solidFill>
                <a:latin typeface="맑은 고딕"/>
              </a:rPr>
              <a:t>▶  이번 과제에서는 우연히 확보된 선행분이 버퍼 역할을 했습니다. 다음에는 그 버퍼를 의도적으로 설계하겠습니다.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83112" cy="1280160"/>
          </a:xfrm>
          <a:prstGeom prst="roundRect">
            <a:avLst>
              <a:gd name="adj" fmla="val 4000"/>
            </a:avLst>
          </a:prstGeom>
          <a:solidFill>
            <a:srgbClr val="29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요구사항에서 종료까지, 한 단계의 결과가 다음 단계의 판단 근거가 되는 흐름을 수치로 증빙했습니다.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C9D2E3"/>
                </a:solidFill>
                <a:latin typeface="맑은 고딕"/>
              </a:rPr>
              <a:t>부족한 부분은 정확히 식별했고, 다음 설계까지 구체화했습니다.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889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29375C"/>
          </a:solidFill>
          <a:ln w="9525">
            <a:solidFill>
              <a:srgbClr val="4A5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88A2E"/>
                </a:solidFill>
                <a:latin typeface="맑은 고딕"/>
              </a:rPr>
              <a:t>①  </a:t>
            </a:r>
            <a:r>
              <a:rPr sz="1500" b="1" i="0">
                <a:solidFill>
                  <a:srgbClr val="FFFFFF"/>
                </a:solidFill>
                <a:latin typeface="맑은 고딕"/>
              </a:rPr>
              <a:t>자기 인식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9D2E3"/>
                </a:solidFill>
                <a:latin typeface="맑은 고딕"/>
              </a:rPr>
              <a:t>약점을 회피하지 않고 직시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27889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29375C"/>
          </a:solidFill>
          <a:ln w="9525">
            <a:solidFill>
              <a:srgbClr val="4A5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29260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88A2E"/>
                </a:solidFill>
                <a:latin typeface="맑은 고딕"/>
              </a:rPr>
              <a:t>②  </a:t>
            </a:r>
            <a:r>
              <a:rPr sz="1500" b="1" i="0">
                <a:solidFill>
                  <a:srgbClr val="FFFFFF"/>
                </a:solidFill>
                <a:latin typeface="맑은 고딕"/>
              </a:rPr>
              <a:t>해결 능력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9D2E3"/>
                </a:solidFill>
                <a:latin typeface="맑은 고딕"/>
              </a:rPr>
              <a:t>보완 방향이 구체적이고 실행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27889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29375C"/>
          </a:solidFill>
          <a:ln w="9525">
            <a:solidFill>
              <a:srgbClr val="4A5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29260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88A2E"/>
                </a:solidFill>
                <a:latin typeface="맑은 고딕"/>
              </a:rPr>
              <a:t>③  </a:t>
            </a:r>
            <a:r>
              <a:rPr sz="1500" b="1" i="0">
                <a:solidFill>
                  <a:srgbClr val="FFFFFF"/>
                </a:solidFill>
                <a:latin typeface="맑은 고딕"/>
              </a:rPr>
              <a:t>균형 역량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9D2E3"/>
                </a:solidFill>
                <a:latin typeface="맑은 고딕"/>
              </a:rPr>
              <a:t>장단점이 고르게 분포된 PM 프로파일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3484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8A2E"/>
                </a:solidFill>
                <a:latin typeface="맑은 고딕"/>
              </a:rPr>
              <a:t>Q&amp;A — 질문 주시면 아래 순서로 근거를 바로 보여드리겠습니다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846320"/>
            <a:ext cx="36118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4956048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2E5A9E"/>
                </a:solidFill>
                <a:latin typeface="맑은 고딕"/>
              </a:rPr>
              <a:t>1. </a:t>
            </a:r>
            <a:r>
              <a:rPr sz="1250" b="1" i="0">
                <a:solidFill>
                  <a:srgbClr val="1F2D50"/>
                </a:solidFill>
                <a:latin typeface="맑은 고딕"/>
              </a:rPr>
              <a:t>CR 판단·영향도 분석 근거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27C"/>
                </a:solidFill>
                <a:latin typeface="맑은 고딕"/>
              </a:rPr>
              <a:t>6.1 / 7.5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4846320"/>
            <a:ext cx="36118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9704" y="4956048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2E5A9E"/>
                </a:solidFill>
                <a:latin typeface="맑은 고딕"/>
              </a:rPr>
              <a:t>2. </a:t>
            </a:r>
            <a:r>
              <a:rPr sz="1250" b="1" i="0">
                <a:solidFill>
                  <a:srgbClr val="1F2D50"/>
                </a:solidFill>
                <a:latin typeface="맑은 고딕"/>
              </a:rPr>
              <a:t>REQ → WBS → 검증 추적 체인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27C"/>
                </a:solidFill>
                <a:latin typeface="맑은 고딕"/>
              </a:rPr>
              <a:t>4.2 / 4.3 / 5.3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4846320"/>
            <a:ext cx="36118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4956048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2E5A9E"/>
                </a:solidFill>
                <a:latin typeface="맑은 고딕"/>
              </a:rPr>
              <a:t>3. </a:t>
            </a:r>
            <a:r>
              <a:rPr sz="1250" b="1" i="0">
                <a:solidFill>
                  <a:srgbClr val="1F2D50"/>
                </a:solidFill>
                <a:latin typeface="맑은 고딕"/>
              </a:rPr>
              <a:t>KPI 판단 근거 및 종료 승인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27C"/>
                </a:solidFill>
                <a:latin typeface="맑은 고딕"/>
              </a:rPr>
              <a:t>1.5 / 1.4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A"/>
                </a:solidFill>
                <a:latin typeface="맑은 고딕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1530</Words>
  <Application>Microsoft Office PowerPoint</Application>
  <PresentationFormat>와이드스크린</PresentationFormat>
  <Paragraphs>271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황인휘/책임연구원/HS/ES선행(연)Interactive Home Solution Task</cp:lastModifiedBy>
  <cp:revision>1</cp:revision>
  <dcterms:created xsi:type="dcterms:W3CDTF">2013-01-27T09:14:16Z</dcterms:created>
  <dcterms:modified xsi:type="dcterms:W3CDTF">2026-06-18T05:25:23Z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2026-06-18T05:25:23Z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bbf31fcd-460e-4494-a19c-f942160b8f42</vt:lpwstr>
  </property>
  <property fmtid="{D5CDD505-2E9C-101B-9397-08002B2CF9AE}" pid="8" name="MSIP_Label_cc6ed9fc-fefc-4a0c-a6d6-10cf236c0d4f_ContentBits">
    <vt:lpwstr>1</vt:lpwstr>
  </property>
  <property fmtid="{D5CDD505-2E9C-101B-9397-08002B2CF9AE}" pid="9" name="ClassificationContentMarkingHeaderLocations">
    <vt:lpwstr>Office Theme:8</vt:lpwstr>
  </property>
  <property fmtid="{D5CDD505-2E9C-101B-9397-08002B2CF9AE}" pid="10" name="ClassificationContentMarkingHeaderText">
    <vt:lpwstr>LGE Internal Use Only</vt:lpwstr>
  </property>
</Properties>
</file>