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6620D-0010-402B-BBB8-48CEA17F2399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3F71C-414E-4C15-A27F-7F84912C79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8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8213C-C838-939F-0D48-08A8267F2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8210"/>
            <a:ext cx="9144000" cy="1156986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AFFFC5-5ABC-6D3D-B257-3B0E67792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37774"/>
            <a:ext cx="9144000" cy="25701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D198D608-64E5-8D92-17DA-C44244CE5DFC}"/>
              </a:ext>
            </a:extLst>
          </p:cNvPr>
          <p:cNvSpPr txBox="1">
            <a:spLocks/>
          </p:cNvSpPr>
          <p:nvPr userDrawn="1"/>
        </p:nvSpPr>
        <p:spPr>
          <a:xfrm>
            <a:off x="1524000" y="5542915"/>
            <a:ext cx="9144000" cy="1015682"/>
          </a:xfrm>
        </p:spPr>
        <p:txBody>
          <a:bodyPr/>
          <a:lstStyle>
            <a:lvl1pPr marL="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defTabSz="1222375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None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1600" kern="0" dirty="0">
                <a:latin typeface="+mn-ea"/>
                <a:ea typeface="+mn-ea"/>
              </a:rPr>
              <a:t>2026.06.25</a:t>
            </a:r>
          </a:p>
          <a:p>
            <a:r>
              <a:rPr lang="en-US" altLang="ko-KR" sz="1600" kern="0" dirty="0">
                <a:latin typeface="+mn-ea"/>
                <a:ea typeface="+mn-ea"/>
              </a:rPr>
              <a:t>HS/ES</a:t>
            </a:r>
            <a:r>
              <a:rPr lang="ko-KR" altLang="en-US" sz="1600" kern="0" dirty="0">
                <a:latin typeface="+mn-ea"/>
                <a:ea typeface="+mn-ea"/>
              </a:rPr>
              <a:t>선행</a:t>
            </a:r>
            <a:r>
              <a:rPr lang="en-US" altLang="ko-KR" sz="1600" kern="0" dirty="0">
                <a:latin typeface="+mn-ea"/>
                <a:ea typeface="+mn-ea"/>
              </a:rPr>
              <a:t>(</a:t>
            </a:r>
            <a:r>
              <a:rPr lang="ko-KR" altLang="en-US" sz="1600" kern="0" dirty="0">
                <a:latin typeface="+mn-ea"/>
                <a:ea typeface="+mn-ea"/>
              </a:rPr>
              <a:t>연</a:t>
            </a:r>
            <a:r>
              <a:rPr lang="en-US" altLang="ko-KR" sz="1600" kern="0" dirty="0">
                <a:latin typeface="+mn-ea"/>
                <a:ea typeface="+mn-ea"/>
              </a:rPr>
              <a:t>) Interactive Home Solution Task </a:t>
            </a:r>
          </a:p>
          <a:p>
            <a:r>
              <a:rPr lang="ko-KR" altLang="en-US" sz="1600" kern="0" dirty="0" err="1">
                <a:latin typeface="+mn-ea"/>
                <a:ea typeface="+mn-ea"/>
              </a:rPr>
              <a:t>황인휘</a:t>
            </a:r>
            <a:r>
              <a:rPr lang="ko-KR" altLang="en-US" sz="1600" kern="0" dirty="0">
                <a:latin typeface="+mn-ea"/>
                <a:ea typeface="+mn-ea"/>
              </a:rPr>
              <a:t> 책임</a:t>
            </a:r>
          </a:p>
        </p:txBody>
      </p:sp>
    </p:spTree>
    <p:extLst>
      <p:ext uri="{BB962C8B-B14F-4D97-AF65-F5344CB8AC3E}">
        <p14:creationId xmlns:p14="http://schemas.microsoft.com/office/powerpoint/2010/main" val="376238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648" y="113356"/>
            <a:ext cx="7140954" cy="362737"/>
          </a:xfrm>
          <a:prstGeom prst="rect">
            <a:avLst/>
          </a:prstGeom>
        </p:spPr>
        <p:txBody>
          <a:bodyPr/>
          <a:lstStyle>
            <a:lvl1pPr>
              <a:defRPr lang="en-US" dirty="0">
                <a:latin typeface="Arial Narrow" panose="020B0606020202030204" pitchFamily="34" charset="0"/>
                <a:cs typeface="Arial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649" y="533401"/>
            <a:ext cx="11538705" cy="6010983"/>
          </a:xfrm>
          <a:prstGeom prst="rect">
            <a:avLst/>
          </a:prstGeom>
        </p:spPr>
        <p:txBody>
          <a:bodyPr/>
          <a:lstStyle>
            <a:lvl1pPr marL="182563" indent="-182563">
              <a:lnSpc>
                <a:spcPct val="120000"/>
              </a:lnSpc>
              <a:buFont typeface="Wingdings" panose="05000000000000000000" pitchFamily="2" charset="2"/>
              <a:buChar char="§"/>
              <a:defRPr sz="1400"/>
            </a:lvl1pPr>
            <a:lvl2pPr marL="449263" indent="-182563">
              <a:lnSpc>
                <a:spcPct val="120000"/>
              </a:lnSpc>
              <a:defRPr sz="1200"/>
            </a:lvl2pPr>
            <a:lvl3pPr marL="715963" indent="-138113">
              <a:lnSpc>
                <a:spcPct val="120000"/>
              </a:lnSpc>
              <a:defRPr sz="1100"/>
            </a:lvl3pPr>
            <a:lvl4pPr marL="982663" indent="-134938">
              <a:lnSpc>
                <a:spcPct val="120000"/>
              </a:lnSpc>
              <a:defRPr sz="1100"/>
            </a:lvl4pPr>
            <a:lvl5pPr marL="1165225" indent="-138113">
              <a:lnSpc>
                <a:spcPct val="120000"/>
              </a:lnSpc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6647" y="6658684"/>
            <a:ext cx="2743200" cy="177093"/>
          </a:xfrm>
          <a:prstGeom prst="rect">
            <a:avLst/>
          </a:prstGeom>
        </p:spPr>
        <p:txBody>
          <a:bodyPr anchor="b"/>
          <a:lstStyle>
            <a:lvl1pPr>
              <a:defRPr 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1" y="6658684"/>
            <a:ext cx="2743200" cy="177093"/>
          </a:xfrm>
          <a:prstGeom prst="rect">
            <a:avLst/>
          </a:prstGeom>
        </p:spPr>
        <p:txBody>
          <a:bodyPr anchor="b"/>
          <a:lstStyle>
            <a:lvl1pPr algn="ctr">
              <a:defRPr lang="ko-KR" alt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fld id="{DF7A7347-9857-4209-AF29-C75A73D2E9B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995138" y="112714"/>
            <a:ext cx="3870570" cy="3635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56C613-E62A-BB8E-BF55-B1189A65F22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6647" y="507897"/>
            <a:ext cx="11538707" cy="0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898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648" y="113356"/>
            <a:ext cx="7140954" cy="362737"/>
          </a:xfrm>
          <a:prstGeom prst="rect">
            <a:avLst/>
          </a:prstGeom>
        </p:spPr>
        <p:txBody>
          <a:bodyPr/>
          <a:lstStyle>
            <a:lvl1pPr>
              <a:defRPr lang="en-US" dirty="0">
                <a:latin typeface="Arial Narrow" panose="020B0606020202030204" pitchFamily="34" charset="0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6647" y="6658684"/>
            <a:ext cx="2743200" cy="177093"/>
          </a:xfrm>
          <a:prstGeom prst="rect">
            <a:avLst/>
          </a:prstGeom>
        </p:spPr>
        <p:txBody>
          <a:bodyPr anchor="b"/>
          <a:lstStyle>
            <a:lvl1pPr>
              <a:defRPr 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1" y="6658684"/>
            <a:ext cx="2743200" cy="177093"/>
          </a:xfrm>
          <a:prstGeom prst="rect">
            <a:avLst/>
          </a:prstGeom>
        </p:spPr>
        <p:txBody>
          <a:bodyPr anchor="b"/>
          <a:lstStyle>
            <a:lvl1pPr algn="ctr">
              <a:defRPr lang="ko-KR" alt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fld id="{DF7A7347-9857-4209-AF29-C75A73D2E9B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4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43031" y="6386473"/>
            <a:ext cx="1195530" cy="421758"/>
          </a:xfrm>
          <a:prstGeom prst="rect">
            <a:avLst/>
          </a:prstGeom>
          <a:noFill/>
        </p:spPr>
      </p:pic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995138" y="112714"/>
            <a:ext cx="3870570" cy="3635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56C613-E62A-BB8E-BF55-B1189A65F22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6647" y="507897"/>
            <a:ext cx="11538707" cy="0"/>
          </a:xfrm>
          <a:prstGeom prst="lin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89641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6647" y="6658684"/>
            <a:ext cx="2743200" cy="177093"/>
          </a:xfrm>
          <a:prstGeom prst="rect">
            <a:avLst/>
          </a:prstGeom>
        </p:spPr>
        <p:txBody>
          <a:bodyPr anchor="b"/>
          <a:lstStyle>
            <a:lvl1pPr>
              <a:defRPr 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24401" y="6658684"/>
            <a:ext cx="2743200" cy="177093"/>
          </a:xfrm>
          <a:prstGeom prst="rect">
            <a:avLst/>
          </a:prstGeom>
        </p:spPr>
        <p:txBody>
          <a:bodyPr anchor="b"/>
          <a:lstStyle>
            <a:lvl1pPr algn="ctr">
              <a:defRPr lang="ko-KR" altLang="en-US" sz="1000" smtClean="0"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fld id="{DF7A7347-9857-4209-AF29-C75A73D2E9B4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14" name="Picture 3" descr="C:\Users\hyun\Desktop\비전로고_두줄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43031" y="6386473"/>
            <a:ext cx="1195530" cy="4217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178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EF00B7-6BBC-19F2-8F72-28B0BFDE1D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0286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5" r:id="rId3"/>
    <p:sldLayoutId id="2147483666" r:id="rId4"/>
  </p:sldLayoutIdLst>
  <p:hf hdr="0" ftr="0" dt="0"/>
  <p:txStyles>
    <p:titleStyle>
      <a:lvl1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defTabSz="1222375" rtl="0" eaLnBrk="1" fontAlgn="base" latinLnBrk="1" hangingPunct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342082" algn="l" rtl="0" eaLnBrk="1" fontAlgn="base" latinLnBrk="1" hangingPunct="1">
        <a:spcBef>
          <a:spcPct val="0"/>
        </a:spcBef>
        <a:spcAft>
          <a:spcPct val="0"/>
        </a:spcAft>
        <a:defRPr kumimoji="1" sz="1500" b="1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684163" algn="l" rtl="0" eaLnBrk="1" fontAlgn="base" latinLnBrk="1" hangingPunct="1">
        <a:spcBef>
          <a:spcPct val="0"/>
        </a:spcBef>
        <a:spcAft>
          <a:spcPct val="0"/>
        </a:spcAft>
        <a:defRPr kumimoji="1" sz="1500" b="1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026243" algn="l" rtl="0" eaLnBrk="1" fontAlgn="base" latinLnBrk="1" hangingPunct="1">
        <a:spcBef>
          <a:spcPct val="0"/>
        </a:spcBef>
        <a:spcAft>
          <a:spcPct val="0"/>
        </a:spcAft>
        <a:defRPr kumimoji="1" sz="1500" b="1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368325" algn="l" rtl="0" eaLnBrk="1" fontAlgn="base" latinLnBrk="1" hangingPunct="1">
        <a:spcBef>
          <a:spcPct val="0"/>
        </a:spcBef>
        <a:spcAft>
          <a:spcPct val="0"/>
        </a:spcAft>
        <a:defRPr kumimoji="1" sz="1500" b="1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39725" indent="-339725" algn="l" defTabSz="1222375" rtl="0" eaLnBrk="1" fontAlgn="base" latinLnBrk="1" hangingPunct="1">
        <a:spcBef>
          <a:spcPct val="20000"/>
        </a:spcBef>
        <a:spcAft>
          <a:spcPct val="0"/>
        </a:spcAft>
        <a:defRPr kumimoji="1" sz="16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0988" algn="l" defTabSz="1222375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2pPr>
      <a:lvl3pPr marL="1139825" indent="-225425" algn="l" defTabSz="1222375" rtl="0" eaLnBrk="1" fontAlgn="base" latinLnBrk="1" hangingPunct="1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</a:defRPr>
      </a:lvl3pPr>
      <a:lvl4pPr marL="1597025" indent="-227013" algn="l" defTabSz="1222375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52638" indent="-223838" algn="l" defTabSz="1222375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1881446" indent="-17104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223528" indent="-17104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565609" indent="-17104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2907690" indent="-17104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42082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63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26243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68325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406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52487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94568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36649" algn="l" defTabSz="684163" rtl="0" eaLnBrk="1" latinLnBrk="1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collab.lge.com/main/spaces/~irene.hwang/pages/3649495694/25_+SmartPlug+_On-Device+AI+Hub%EB%A5%BC+%EC%9C%84%ED%95%9C+%EC%8A%A4%EB%A7%88%ED%8A%B8+%ED%94%8C%EB%9F%AC%EA%B7%B8+PoC+%EA%B0%9C%EB%B0%9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C0B92-0D7F-6D28-AE41-9C093BFE8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1951" y="812262"/>
            <a:ext cx="9144000" cy="139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 sz="3000" i="0" dirty="0">
                <a:solidFill>
                  <a:srgbClr val="172B4D"/>
                </a:solidFill>
                <a:effectLst/>
                <a:latin typeface="-apple-system"/>
              </a:rPr>
              <a:t>On-Device AI Hub</a:t>
            </a:r>
            <a:r>
              <a:rPr lang="ko-KR" altLang="en-US" sz="3000" i="0" dirty="0">
                <a:solidFill>
                  <a:srgbClr val="172B4D"/>
                </a:solidFill>
                <a:effectLst/>
                <a:latin typeface="-apple-system"/>
              </a:rPr>
              <a:t>를 위한 스마트 플러그 </a:t>
            </a:r>
            <a:r>
              <a:rPr lang="en-US" altLang="ko-KR" sz="3000" i="0" dirty="0">
                <a:solidFill>
                  <a:srgbClr val="172B4D"/>
                </a:solidFill>
                <a:effectLst/>
                <a:latin typeface="-apple-system"/>
              </a:rPr>
              <a:t>PoC </a:t>
            </a:r>
            <a:r>
              <a:rPr lang="ko-KR" altLang="en-US" sz="3000" i="0" dirty="0">
                <a:solidFill>
                  <a:srgbClr val="172B4D"/>
                </a:solidFill>
                <a:effectLst/>
                <a:latin typeface="-apple-system"/>
              </a:rPr>
              <a:t>개발 보고</a:t>
            </a:r>
            <a:br>
              <a:rPr lang="en-US" altLang="ko-KR" sz="2400" i="0" dirty="0">
                <a:solidFill>
                  <a:srgbClr val="172B4D"/>
                </a:solidFill>
                <a:effectLst/>
                <a:latin typeface="-apple-system"/>
              </a:rPr>
            </a:br>
            <a:r>
              <a:rPr lang="en-US" altLang="ko-KR" sz="2000" b="0" i="0" dirty="0">
                <a:solidFill>
                  <a:srgbClr val="172B4D"/>
                </a:solidFill>
                <a:effectLst/>
                <a:latin typeface="-apple-system"/>
              </a:rPr>
              <a:t>LG SW PM</a:t>
            </a:r>
            <a:r>
              <a:rPr lang="ko-KR" altLang="en-US" sz="2000" b="0" i="0" dirty="0">
                <a:solidFill>
                  <a:srgbClr val="172B4D"/>
                </a:solidFill>
                <a:effectLst/>
                <a:latin typeface="-apple-system"/>
              </a:rPr>
              <a:t>역량정의서 기반 프로젝트관리 실행사례 및  개선계획</a:t>
            </a:r>
            <a:endParaRPr lang="ko-KR" altLang="en-US" sz="2000" b="0" i="0" dirty="0">
              <a:solidFill>
                <a:srgbClr val="172B4D"/>
              </a:solidFill>
              <a:effectLst/>
              <a:latin typeface="-apple-system"/>
              <a:hlinkClick r:id="rId2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CC2124-E8EF-1C16-0984-3BAE83F3A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5074" y="2404344"/>
            <a:ext cx="4557754" cy="2333308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en-US" altLang="ko-KR" sz="1600" dirty="0"/>
              <a:t>1.</a:t>
            </a:r>
            <a:r>
              <a:rPr lang="ko-KR" altLang="en-US" sz="1600" dirty="0"/>
              <a:t>프로젝트 개요</a:t>
            </a:r>
          </a:p>
          <a:p>
            <a:pPr algn="l">
              <a:lnSpc>
                <a:spcPct val="120000"/>
              </a:lnSpc>
            </a:pPr>
            <a:r>
              <a:rPr lang="en-US" altLang="ko-KR" sz="1600" dirty="0"/>
              <a:t>2.</a:t>
            </a:r>
            <a:r>
              <a:rPr lang="ko-KR" altLang="en-US" sz="1600" dirty="0"/>
              <a:t>프로젝트 관리현황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600" dirty="0"/>
              <a:t>▪요구사항</a:t>
            </a:r>
            <a:r>
              <a:rPr lang="en-US" altLang="ko-KR" sz="1600" dirty="0"/>
              <a:t>_</a:t>
            </a:r>
            <a:r>
              <a:rPr lang="ko-KR" altLang="en-US" sz="1600" dirty="0"/>
              <a:t>정합성</a:t>
            </a:r>
            <a:r>
              <a:rPr lang="en-US" altLang="ko-KR" sz="1600" dirty="0"/>
              <a:t>/</a:t>
            </a:r>
            <a:r>
              <a:rPr lang="ko-KR" altLang="en-US" sz="1600" dirty="0"/>
              <a:t>추적성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600" dirty="0"/>
              <a:t>▪</a:t>
            </a:r>
            <a:r>
              <a:rPr lang="en-US" altLang="ko-KR" sz="1600" dirty="0"/>
              <a:t>Release</a:t>
            </a:r>
            <a:r>
              <a:rPr lang="ko-KR" altLang="en-US" sz="1600" dirty="0"/>
              <a:t>계획</a:t>
            </a:r>
            <a:r>
              <a:rPr lang="en-US" altLang="ko-KR" sz="1600" dirty="0"/>
              <a:t>_</a:t>
            </a:r>
            <a:r>
              <a:rPr lang="ko-KR" altLang="en-US" sz="1600" dirty="0"/>
              <a:t>계획수립</a:t>
            </a:r>
            <a:r>
              <a:rPr lang="en-US" altLang="ko-KR" sz="1600" dirty="0"/>
              <a:t>/</a:t>
            </a:r>
            <a:r>
              <a:rPr lang="ko-KR" altLang="en-US" sz="1600" dirty="0"/>
              <a:t>통합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600" dirty="0"/>
              <a:t>▪프로젝트</a:t>
            </a:r>
            <a:r>
              <a:rPr lang="en-US" altLang="ko-KR" sz="1600" dirty="0"/>
              <a:t> Dashboard_</a:t>
            </a:r>
            <a:r>
              <a:rPr lang="ko-KR" altLang="en-US" sz="1600" dirty="0"/>
              <a:t>현재</a:t>
            </a:r>
            <a:r>
              <a:rPr lang="en-US" altLang="ko-KR" sz="1600" dirty="0"/>
              <a:t>/</a:t>
            </a:r>
            <a:r>
              <a:rPr lang="ko-KR" altLang="en-US" sz="1600" dirty="0"/>
              <a:t>미래예측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600" dirty="0"/>
              <a:t>▪프로젝트 소통과 협업</a:t>
            </a:r>
            <a:r>
              <a:rPr lang="en-US" altLang="ko-KR" sz="1600" dirty="0"/>
              <a:t>_</a:t>
            </a:r>
            <a:r>
              <a:rPr lang="ko-KR" altLang="en-US" sz="1600" dirty="0"/>
              <a:t>정보 배포</a:t>
            </a:r>
            <a:r>
              <a:rPr lang="en-US" altLang="ko-KR" sz="1600" dirty="0"/>
              <a:t>/</a:t>
            </a:r>
            <a:r>
              <a:rPr lang="ko-KR" altLang="en-US" sz="1600" dirty="0"/>
              <a:t>이해관계자 참여</a:t>
            </a:r>
          </a:p>
          <a:p>
            <a:pPr marL="182563" algn="l">
              <a:lnSpc>
                <a:spcPct val="120000"/>
              </a:lnSpc>
            </a:pPr>
            <a:r>
              <a:rPr lang="ko-KR" altLang="en-US" sz="1600" dirty="0"/>
              <a:t>▪프로젝트 선순환 구조</a:t>
            </a:r>
            <a:r>
              <a:rPr lang="en-US" altLang="ko-KR" sz="1600" dirty="0"/>
              <a:t>_</a:t>
            </a:r>
            <a:r>
              <a:rPr lang="ko-KR" altLang="en-US" sz="1600" dirty="0"/>
              <a:t>종료</a:t>
            </a:r>
            <a:r>
              <a:rPr lang="en-US" altLang="ko-KR" sz="1600" dirty="0"/>
              <a:t>/</a:t>
            </a:r>
            <a:r>
              <a:rPr lang="ko-KR" altLang="en-US" sz="1600" dirty="0"/>
              <a:t>교훈</a:t>
            </a:r>
            <a:r>
              <a:rPr lang="en-US" altLang="ko-KR" sz="1600" dirty="0"/>
              <a:t>-</a:t>
            </a:r>
            <a:r>
              <a:rPr lang="ko-KR" altLang="en-US" sz="1600" dirty="0"/>
              <a:t>회고</a:t>
            </a:r>
          </a:p>
          <a:p>
            <a:pPr algn="l">
              <a:lnSpc>
                <a:spcPct val="120000"/>
              </a:lnSpc>
            </a:pPr>
            <a:r>
              <a:rPr lang="en-US" altLang="ko-KR" sz="1600" dirty="0"/>
              <a:t>3.</a:t>
            </a:r>
            <a:r>
              <a:rPr lang="ko-KR" altLang="en-US" sz="1600" dirty="0"/>
              <a:t>향후 계획</a:t>
            </a:r>
          </a:p>
        </p:txBody>
      </p:sp>
    </p:spTree>
    <p:extLst>
      <p:ext uri="{BB962C8B-B14F-4D97-AF65-F5344CB8AC3E}">
        <p14:creationId xmlns:p14="http://schemas.microsoft.com/office/powerpoint/2010/main" val="2736007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36A11-4512-F26D-3D19-082483F99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On-Device AI Hub</a:t>
            </a:r>
            <a:r>
              <a:rPr lang="ko-KR" altLang="en-US" dirty="0"/>
              <a:t>를 위한 스마트 플러그 </a:t>
            </a:r>
            <a:r>
              <a:rPr lang="en-US" altLang="ko-KR" dirty="0"/>
              <a:t>PoC </a:t>
            </a:r>
            <a:r>
              <a:rPr lang="ko-KR" altLang="en-US" dirty="0"/>
              <a:t>개발 </a:t>
            </a:r>
          </a:p>
        </p:txBody>
      </p:sp>
      <p:graphicFrame>
        <p:nvGraphicFramePr>
          <p:cNvPr id="19" name="내용 개체 틀 18">
            <a:extLst>
              <a:ext uri="{FF2B5EF4-FFF2-40B4-BE49-F238E27FC236}">
                <a16:creationId xmlns:a16="http://schemas.microsoft.com/office/drawing/2014/main" id="{4063A6BF-509D-2312-55F4-C2E23887B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908804"/>
              </p:ext>
            </p:extLst>
          </p:nvPr>
        </p:nvGraphicFramePr>
        <p:xfrm>
          <a:off x="326470" y="634625"/>
          <a:ext cx="11520000" cy="5143800"/>
        </p:xfrm>
        <a:graphic>
          <a:graphicData uri="http://schemas.openxmlformats.org/drawingml/2006/table">
            <a:tbl>
              <a:tblPr/>
              <a:tblGrid>
                <a:gridCol w="1372838">
                  <a:extLst>
                    <a:ext uri="{9D8B030D-6E8A-4147-A177-3AD203B41FA5}">
                      <a16:colId xmlns:a16="http://schemas.microsoft.com/office/drawing/2014/main" val="1525258834"/>
                    </a:ext>
                  </a:extLst>
                </a:gridCol>
                <a:gridCol w="10147162">
                  <a:extLst>
                    <a:ext uri="{9D8B030D-6E8A-4147-A177-3AD203B41FA5}">
                      <a16:colId xmlns:a16="http://schemas.microsoft.com/office/drawing/2014/main" val="1881182499"/>
                    </a:ext>
                  </a:extLst>
                </a:gridCol>
              </a:tblGrid>
              <a:tr h="419246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과제명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300" dirty="0"/>
                        <a:t>On-Device AI Hub</a:t>
                      </a:r>
                      <a:r>
                        <a:rPr lang="ko-KR" altLang="en-US" sz="1300" dirty="0"/>
                        <a:t>를 위한 스마트 플러그 </a:t>
                      </a:r>
                      <a:r>
                        <a:rPr lang="en-US" altLang="ko-KR" sz="1300" dirty="0"/>
                        <a:t>PoC </a:t>
                      </a:r>
                      <a:r>
                        <a:rPr lang="ko-KR" altLang="en-US" sz="1300" dirty="0"/>
                        <a:t>개발 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757748"/>
                  </a:ext>
                </a:extLst>
              </a:tr>
              <a:tr h="1355374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목표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단일 홈 허브가 주택</a:t>
                      </a:r>
                      <a:r>
                        <a:rPr lang="en-US" altLang="ko-KR" sz="1300" dirty="0"/>
                        <a:t>/</a:t>
                      </a:r>
                      <a:r>
                        <a:rPr lang="ko-KR" altLang="en-US" sz="1300" dirty="0"/>
                        <a:t>건물 내에서 실제로 사용 가능한 물리적 공간 확장을 가능하게 하는 악세서리 기기의 </a:t>
                      </a:r>
                      <a:r>
                        <a:rPr lang="en-US" altLang="ko-KR" sz="1300" dirty="0"/>
                        <a:t>SW</a:t>
                      </a:r>
                      <a:r>
                        <a:rPr lang="ko-KR" altLang="en-US" sz="1300" dirty="0"/>
                        <a:t>를 개발하고 이를 </a:t>
                      </a:r>
                      <a:r>
                        <a:rPr lang="en-US" altLang="ko-KR" sz="1300" dirty="0"/>
                        <a:t>On-Device AI Hub</a:t>
                      </a:r>
                      <a:r>
                        <a:rPr lang="ko-KR" altLang="en-US" sz="1300" dirty="0"/>
                        <a:t>와 연동하여 최소한의 실제 동작을 시연함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악세서리 기기는 전원 공급의 용이성 및 음성 명령을 중심으로 한 기존 홈 허브의 사용성을 고려하여 전원 플러그 형태로 개발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이하 스마트 플러그 또는 플러그로 칭함</a:t>
                      </a:r>
                      <a:r>
                        <a:rPr lang="en-US" altLang="ko-KR" sz="1300" dirty="0"/>
                        <a:t>)</a:t>
                      </a:r>
                      <a:r>
                        <a:rPr lang="ko-KR" altLang="en-US" sz="1300" dirty="0"/>
                        <a:t>하는 것을 전제하며</a:t>
                      </a:r>
                      <a:r>
                        <a:rPr lang="en-US" altLang="ko-KR" sz="1300" dirty="0"/>
                        <a:t>, On-</a:t>
                      </a:r>
                      <a:r>
                        <a:rPr lang="en-US" altLang="ko-KR" sz="1300" dirty="0" err="1"/>
                        <a:t>Devce</a:t>
                      </a:r>
                      <a:r>
                        <a:rPr lang="en-US" altLang="ko-KR" sz="1300" dirty="0"/>
                        <a:t> AI Hub HW </a:t>
                      </a:r>
                      <a:r>
                        <a:rPr lang="ko-KR" altLang="en-US" sz="1300" dirty="0"/>
                        <a:t>개발 </a:t>
                      </a:r>
                      <a:r>
                        <a:rPr lang="en-US" altLang="ko-KR" sz="1300" dirty="0"/>
                        <a:t>Task</a:t>
                      </a:r>
                      <a:r>
                        <a:rPr lang="ko-KR" altLang="en-US" sz="1300" dirty="0"/>
                        <a:t>에서 별도로 진행함</a:t>
                      </a:r>
                      <a:endParaRPr lang="en-US" altLang="ko-KR" sz="1300" dirty="0"/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573768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기간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300" dirty="0">
                          <a:effectLst/>
                        </a:rPr>
                        <a:t>2025.04.01 ~ 2025.12.10 (</a:t>
                      </a:r>
                      <a:r>
                        <a:rPr lang="ko-KR" altLang="en-US" sz="1300" dirty="0">
                          <a:effectLst/>
                        </a:rPr>
                        <a:t>계획 대비 </a:t>
                      </a:r>
                      <a:r>
                        <a:rPr lang="en-US" altLang="ko-KR" sz="1300" dirty="0">
                          <a:effectLst/>
                        </a:rPr>
                        <a:t>2</a:t>
                      </a:r>
                      <a:r>
                        <a:rPr lang="ko-KR" altLang="en-US" sz="1300" dirty="0">
                          <a:effectLst/>
                        </a:rPr>
                        <a:t>주 연장</a:t>
                      </a:r>
                      <a:r>
                        <a:rPr lang="en-US" altLang="ko-KR" sz="1300" dirty="0">
                          <a:effectLst/>
                        </a:rPr>
                        <a:t>)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624348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인원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상근 </a:t>
                      </a:r>
                      <a:r>
                        <a:rPr lang="en-US" altLang="ko-KR" sz="1300" dirty="0"/>
                        <a:t>4</a:t>
                      </a:r>
                      <a:r>
                        <a:rPr lang="ko-KR" altLang="en-US" sz="1300" dirty="0"/>
                        <a:t>명</a:t>
                      </a:r>
                      <a:r>
                        <a:rPr lang="en-US" altLang="ko-KR" sz="1300" baseline="30000" dirty="0"/>
                        <a:t>*(</a:t>
                      </a:r>
                      <a:r>
                        <a:rPr lang="en-US" altLang="ko-KR" sz="1300" dirty="0"/>
                        <a:t>PL1 + SW</a:t>
                      </a:r>
                      <a:r>
                        <a:rPr lang="ko-KR" altLang="en-US" sz="1300" dirty="0"/>
                        <a:t>개발 </a:t>
                      </a:r>
                      <a:r>
                        <a:rPr lang="en-US" altLang="ko-KR" sz="1300" dirty="0"/>
                        <a:t>3), </a:t>
                      </a:r>
                      <a:r>
                        <a:rPr lang="ko-KR" altLang="en-US" sz="1300" dirty="0"/>
                        <a:t>비상근 </a:t>
                      </a:r>
                      <a:r>
                        <a:rPr lang="en-US" altLang="ko-KR" sz="1300" dirty="0"/>
                        <a:t>3</a:t>
                      </a:r>
                      <a:r>
                        <a:rPr lang="ko-KR" altLang="en-US" sz="1300" dirty="0"/>
                        <a:t>명 </a:t>
                      </a:r>
                      <a:r>
                        <a:rPr lang="en-US" altLang="ko-KR" sz="1300" dirty="0"/>
                        <a:t>/ </a:t>
                      </a:r>
                      <a:r>
                        <a:rPr lang="ko-KR" altLang="en-US" sz="1300" dirty="0"/>
                        <a:t>총 </a:t>
                      </a:r>
                      <a:r>
                        <a:rPr lang="en-US" altLang="ko-KR" sz="1300" dirty="0"/>
                        <a:t>23MM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84714"/>
                  </a:ext>
                </a:extLst>
              </a:tr>
              <a:tr h="495232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고객 가치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/>
                        <a:t>홈 허브의 위치를 옮기거나</a:t>
                      </a:r>
                      <a:r>
                        <a:rPr lang="en-US" altLang="ko-KR" sz="1300"/>
                        <a:t>, </a:t>
                      </a:r>
                      <a:r>
                        <a:rPr lang="ko-KR" altLang="en-US" sz="1300"/>
                        <a:t>여러개의 허브를 구입하지 않고 간단한 악세서리를 추가함으로써 집 안 어디서나 홈 허브의 기능을 사용할 수 있다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433505"/>
                  </a:ext>
                </a:extLst>
              </a:tr>
              <a:tr h="1616210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사업적 가치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본 과제는 </a:t>
                      </a:r>
                      <a:r>
                        <a:rPr lang="en-US" altLang="ko-KR" sz="1300" dirty="0"/>
                        <a:t>PoC </a:t>
                      </a:r>
                      <a:r>
                        <a:rPr lang="ko-KR" altLang="en-US" sz="1300" dirty="0"/>
                        <a:t>목적의 과제로 사업적 가치를 직접적으로 언급하기는 무리가 있으나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향후 홈 허브 사업이 일정 규모를 이루게 되는 경우 이 과제를 확장함으로써 다음을 달성할 수 있다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dirty="0"/>
                        <a:t>홈 허브 패키지의 가격 경쟁력 확보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시장 확대 가속화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300" dirty="0"/>
                        <a:t>분산형 </a:t>
                      </a:r>
                      <a:r>
                        <a:rPr lang="en-US" altLang="ko-KR" sz="1300" dirty="0"/>
                        <a:t>AI </a:t>
                      </a:r>
                      <a:r>
                        <a:rPr lang="ko-KR" altLang="en-US" sz="1300" dirty="0" err="1"/>
                        <a:t>홈허브</a:t>
                      </a:r>
                      <a:r>
                        <a:rPr lang="ko-KR" altLang="en-US" sz="1300" dirty="0"/>
                        <a:t> 인프라 구축을 통한 </a:t>
                      </a:r>
                      <a:r>
                        <a:rPr lang="en-US" altLang="ko-KR" sz="1300" dirty="0"/>
                        <a:t>AI </a:t>
                      </a:r>
                      <a:r>
                        <a:rPr lang="ko-KR" altLang="en-US" sz="1300" dirty="0"/>
                        <a:t>인프라 비용 절감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300" dirty="0" err="1"/>
                        <a:t>ThinQ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가전 연계를 통한 </a:t>
                      </a:r>
                      <a:r>
                        <a:rPr lang="en-US" altLang="ko-KR" sz="1300" dirty="0" err="1"/>
                        <a:t>ThinQ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생태계 확대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563140"/>
                  </a:ext>
                </a:extLst>
              </a:tr>
              <a:tr h="419246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ko-KR" altLang="en-US" sz="1300" dirty="0"/>
                        <a:t>과제 진행 관리</a:t>
                      </a:r>
                    </a:p>
                  </a:txBody>
                  <a:tcPr marL="76727" marR="76727" marT="38363" marB="38363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dirty="0"/>
                        <a:t>Collab / Waterfall </a:t>
                      </a:r>
                      <a:r>
                        <a:rPr lang="ko-KR" altLang="en-US" sz="1300" dirty="0"/>
                        <a:t>방식 진행</a:t>
                      </a:r>
                    </a:p>
                  </a:txBody>
                  <a:tcPr marL="76727" marR="76727" marT="38363" marB="3836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290701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D78097-711B-5310-71C1-5E5B85AE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AB091D1-B104-B819-CB2C-946D0ACEB2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프로젝트 개요</a:t>
            </a:r>
          </a:p>
        </p:txBody>
      </p:sp>
      <p:sp>
        <p:nvSpPr>
          <p:cNvPr id="20" name="내용 개체 틀 6">
            <a:extLst>
              <a:ext uri="{FF2B5EF4-FFF2-40B4-BE49-F238E27FC236}">
                <a16:creationId xmlns:a16="http://schemas.microsoft.com/office/drawing/2014/main" id="{32DDD892-9A73-DF50-F007-E0ED92A0F756}"/>
              </a:ext>
            </a:extLst>
          </p:cNvPr>
          <p:cNvSpPr txBox="1">
            <a:spLocks/>
          </p:cNvSpPr>
          <p:nvPr/>
        </p:nvSpPr>
        <p:spPr>
          <a:xfrm>
            <a:off x="326649" y="5778425"/>
            <a:ext cx="11538705" cy="765959"/>
          </a:xfrm>
          <a:prstGeom prst="rect">
            <a:avLst/>
          </a:prstGeom>
        </p:spPr>
        <p:txBody>
          <a:bodyPr/>
          <a:lstStyle>
            <a:lvl1pPr marL="182563" indent="-182563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263" indent="-182563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715963" indent="-138113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3pPr>
            <a:lvl4pPr marL="982663" indent="-134938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4pPr>
            <a:lvl5pPr marL="1165225" indent="-138113" algn="l" defTabSz="1222375" rtl="0" eaLnBrk="1" fontAlgn="base" latin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kumimoji="1" sz="1100">
                <a:solidFill>
                  <a:schemeClr val="tx1"/>
                </a:solidFill>
                <a:latin typeface="+mn-lt"/>
                <a:ea typeface="+mn-ea"/>
              </a:defRPr>
            </a:lvl5pPr>
            <a:lvl6pPr marL="1881446" indent="-17104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2223528" indent="-17104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2565609" indent="-17104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907690" indent="-17104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kern="0" dirty="0"/>
              <a:t>본 과제는 탐색과제로써</a:t>
            </a:r>
            <a:r>
              <a:rPr lang="en-US" altLang="ko-KR" kern="0" dirty="0"/>
              <a:t>, </a:t>
            </a:r>
            <a:r>
              <a:rPr lang="ko-KR" altLang="en-US" kern="0" dirty="0"/>
              <a:t>공식적인 </a:t>
            </a:r>
            <a:r>
              <a:rPr lang="en-US" altLang="ko-KR" kern="0" dirty="0"/>
              <a:t>PM</a:t>
            </a:r>
            <a:r>
              <a:rPr lang="ko-KR" altLang="en-US" kern="0" dirty="0"/>
              <a:t> 없이</a:t>
            </a:r>
            <a:r>
              <a:rPr lang="en-US" altLang="ko-KR" kern="0" dirty="0"/>
              <a:t>, PL</a:t>
            </a:r>
            <a:r>
              <a:rPr lang="ko-KR" altLang="en-US" kern="0" dirty="0"/>
              <a:t>이 개발관점에서 필요한 관리 업무를 수행하였음</a:t>
            </a:r>
            <a:endParaRPr lang="en-US" altLang="ko-KR" kern="0" dirty="0"/>
          </a:p>
          <a:p>
            <a:r>
              <a:rPr lang="ko-KR" altLang="en-US" kern="0" dirty="0"/>
              <a:t>과제 산출물 및 본 발표자료는</a:t>
            </a:r>
            <a:r>
              <a:rPr lang="en-US" altLang="ko-KR" kern="0" dirty="0"/>
              <a:t> PM </a:t>
            </a:r>
            <a:r>
              <a:rPr lang="ko-KR" altLang="en-US" kern="0" dirty="0" err="1"/>
              <a:t>활동없이</a:t>
            </a:r>
            <a:r>
              <a:rPr lang="ko-KR" altLang="en-US" kern="0" dirty="0"/>
              <a:t> 어떤 부분이 가능했으며</a:t>
            </a:r>
            <a:r>
              <a:rPr lang="en-US" altLang="ko-KR" kern="0" dirty="0"/>
              <a:t> </a:t>
            </a:r>
            <a:r>
              <a:rPr lang="ko-KR" altLang="en-US" kern="0" dirty="0"/>
              <a:t>어떤 부분이 취약해지는지를 종합적으로 복기하고</a:t>
            </a:r>
            <a:r>
              <a:rPr lang="en-US" altLang="ko-KR" kern="0" dirty="0"/>
              <a:t>, </a:t>
            </a:r>
            <a:r>
              <a:rPr lang="ko-KR" altLang="en-US" kern="0" dirty="0"/>
              <a:t> 향후 </a:t>
            </a:r>
            <a:r>
              <a:rPr lang="en-US" altLang="ko-KR" kern="0" dirty="0"/>
              <a:t>Self-Organizing </a:t>
            </a:r>
            <a:r>
              <a:rPr lang="ko-KR" altLang="en-US" kern="0" dirty="0"/>
              <a:t>가능한 </a:t>
            </a:r>
          </a:p>
        </p:txBody>
      </p:sp>
    </p:spTree>
    <p:extLst>
      <p:ext uri="{BB962C8B-B14F-4D97-AF65-F5344CB8AC3E}">
        <p14:creationId xmlns:p14="http://schemas.microsoft.com/office/powerpoint/2010/main" val="2180579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D3883-6985-F852-754E-DE33A1CF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관리 현황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8F3B73B-D575-FDCE-7BDF-0F447091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ㄴㅇㄹㄴㅇㄹ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DBC1C0-0EBF-03F1-E13D-D3474D8A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01694D-8B12-86A0-5D1C-6997B4C37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요구사항</a:t>
            </a:r>
            <a:r>
              <a:rPr lang="en-US" altLang="ko-KR" dirty="0"/>
              <a:t>_</a:t>
            </a:r>
            <a:r>
              <a:rPr lang="ko-KR" altLang="en-US" dirty="0"/>
              <a:t>정합성</a:t>
            </a:r>
            <a:r>
              <a:rPr lang="en-US" altLang="ko-KR" dirty="0"/>
              <a:t>/</a:t>
            </a:r>
            <a:r>
              <a:rPr lang="ko-KR" altLang="en-US" dirty="0"/>
              <a:t>추적성</a:t>
            </a:r>
          </a:p>
        </p:txBody>
      </p:sp>
    </p:spTree>
    <p:extLst>
      <p:ext uri="{BB962C8B-B14F-4D97-AF65-F5344CB8AC3E}">
        <p14:creationId xmlns:p14="http://schemas.microsoft.com/office/powerpoint/2010/main" val="100006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AC04-C82C-114B-687E-BE1912D6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90C7E-CBE0-D234-A926-F8DB4171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관리 현황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5B8CEC9-DF9B-1B5E-15A7-8150EAA1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37C56-8051-B715-A174-827A609C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A583BB-831D-564E-F90B-97D0EA101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en-US" altLang="ko-KR" dirty="0"/>
              <a:t>Release</a:t>
            </a:r>
            <a:r>
              <a:rPr lang="ko-KR" altLang="en-US" dirty="0"/>
              <a:t>계획</a:t>
            </a:r>
            <a:r>
              <a:rPr lang="en-US" altLang="ko-KR" dirty="0"/>
              <a:t>_</a:t>
            </a:r>
            <a:r>
              <a:rPr lang="ko-KR" altLang="en-US" dirty="0"/>
              <a:t>계획수립</a:t>
            </a:r>
            <a:r>
              <a:rPr lang="en-US" altLang="ko-KR" dirty="0"/>
              <a:t>/</a:t>
            </a:r>
            <a:r>
              <a:rPr lang="ko-KR" altLang="en-US" dirty="0"/>
              <a:t>통합</a:t>
            </a:r>
          </a:p>
        </p:txBody>
      </p:sp>
    </p:spTree>
    <p:extLst>
      <p:ext uri="{BB962C8B-B14F-4D97-AF65-F5344CB8AC3E}">
        <p14:creationId xmlns:p14="http://schemas.microsoft.com/office/powerpoint/2010/main" val="354251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A095D-25A2-E4FA-1FD1-85B27027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1D99A-4E66-3AA3-1795-807EBB51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관리 현황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873939B-A0EB-6D12-8256-B1DF2777E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F9F3D-2871-597E-304B-19659FF8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B777C9-3314-E822-047E-6CA5C1EDD3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프로젝트 대시보드</a:t>
            </a:r>
            <a:r>
              <a:rPr lang="en-US" altLang="ko-KR" dirty="0"/>
              <a:t>_</a:t>
            </a:r>
            <a:r>
              <a:rPr lang="ko-KR" altLang="en-US" dirty="0"/>
              <a:t>현재</a:t>
            </a:r>
            <a:r>
              <a:rPr lang="en-US" altLang="ko-KR" dirty="0"/>
              <a:t>/</a:t>
            </a:r>
            <a:r>
              <a:rPr lang="ko-KR" altLang="en-US" dirty="0"/>
              <a:t>미래예측</a:t>
            </a:r>
          </a:p>
        </p:txBody>
      </p:sp>
    </p:spTree>
    <p:extLst>
      <p:ext uri="{BB962C8B-B14F-4D97-AF65-F5344CB8AC3E}">
        <p14:creationId xmlns:p14="http://schemas.microsoft.com/office/powerpoint/2010/main" val="43156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9EF56-04F6-6D1F-A630-E5A45D88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A37A2-C825-33AF-4628-AA0380F6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관리 현황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90797D-2F86-917B-ED80-8AF0737A8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961CA-1CEE-3926-8750-847928D1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F0316A-1E5D-9109-AF23-CE4F206FE3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프로젝트 소통과 협업</a:t>
            </a:r>
            <a:r>
              <a:rPr lang="en-US" altLang="ko-KR" dirty="0"/>
              <a:t>_</a:t>
            </a:r>
            <a:r>
              <a:rPr lang="ko-KR" altLang="en-US" dirty="0"/>
              <a:t>정보배포</a:t>
            </a:r>
            <a:r>
              <a:rPr lang="en-US" altLang="ko-KR" dirty="0"/>
              <a:t>/</a:t>
            </a:r>
            <a:r>
              <a:rPr lang="ko-KR" altLang="en-US" dirty="0"/>
              <a:t>이해관계자참여</a:t>
            </a:r>
          </a:p>
        </p:txBody>
      </p:sp>
    </p:spTree>
    <p:extLst>
      <p:ext uri="{BB962C8B-B14F-4D97-AF65-F5344CB8AC3E}">
        <p14:creationId xmlns:p14="http://schemas.microsoft.com/office/powerpoint/2010/main" val="1348212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724E8-8D28-B1E9-577A-37A3605C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06F86-F67A-4F92-FBF3-2F635534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관리 현황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4AB1278-7374-3A07-E08E-F6A537C0B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6439F3-AEB0-56B8-C92D-B86C3DF3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B41BA8-1D25-EC59-0DF2-FD801CAF40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 dirty="0"/>
              <a:t>프로젝트 선순환 구조</a:t>
            </a:r>
            <a:r>
              <a:rPr lang="en-US" altLang="ko-KR" dirty="0"/>
              <a:t>_</a:t>
            </a:r>
            <a:r>
              <a:rPr lang="ko-KR" altLang="en-US" dirty="0"/>
              <a:t>교훈</a:t>
            </a:r>
            <a:r>
              <a:rPr lang="en-US" altLang="ko-KR" dirty="0"/>
              <a:t>/</a:t>
            </a:r>
            <a:r>
              <a:rPr lang="ko-KR" altLang="en-US" dirty="0"/>
              <a:t>회고</a:t>
            </a:r>
          </a:p>
        </p:txBody>
      </p:sp>
    </p:spTree>
    <p:extLst>
      <p:ext uri="{BB962C8B-B14F-4D97-AF65-F5344CB8AC3E}">
        <p14:creationId xmlns:p14="http://schemas.microsoft.com/office/powerpoint/2010/main" val="276793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5CAF-C1E6-1A2C-A54D-D30C16FD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94C0A6-55F2-317F-328B-753D2EC69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계획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37D8D16-D91F-224F-1DE4-CB2963B4C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8C7605-CE0E-8785-6EA6-137EE152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B8D36-F453-CF09-EFC3-896D2319EB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/>
              <a:t>성과</a:t>
            </a:r>
            <a:r>
              <a:rPr lang="en-US" altLang="ko-KR" dirty="0"/>
              <a:t>/</a:t>
            </a:r>
            <a:r>
              <a:rPr lang="ko-KR" altLang="en-US" dirty="0"/>
              <a:t>부채</a:t>
            </a:r>
          </a:p>
        </p:txBody>
      </p:sp>
    </p:spTree>
    <p:extLst>
      <p:ext uri="{BB962C8B-B14F-4D97-AF65-F5344CB8AC3E}">
        <p14:creationId xmlns:p14="http://schemas.microsoft.com/office/powerpoint/2010/main" val="85214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BF81-0CF8-046E-E4A7-8B330550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F5F06-BF31-9FF2-F49D-5118AD21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계획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90C819B-5EC1-F704-B992-2B62A85B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D9FFF3-DEA0-5E10-BEC2-C64498CD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A7347-9857-4209-AF29-C75A73D2E9B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FDD3C2-2C9F-E9D8-9786-B63F9B2458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ko-KR" altLang="en-US"/>
              <a:t>개선 계획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6413455"/>
      </p:ext>
    </p:extLst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사용자 지정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LG format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디바이스커넥티비티-iWR-20230113_v03.pptx" id="{0C0851DC-A8E4-4BD1-9481-B912004B3666}" vid="{D1D752AD-3C8E-4D68-92F2-DE34566DBB8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</TotalTime>
  <Words>379</Words>
  <Application>Microsoft Office PowerPoint</Application>
  <PresentationFormat>와이드스크린</PresentationFormat>
  <Paragraphs>54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-apple-system</vt:lpstr>
      <vt:lpstr>굴림</vt:lpstr>
      <vt:lpstr>맑은 고딕</vt:lpstr>
      <vt:lpstr>Arial</vt:lpstr>
      <vt:lpstr>Arial Narrow</vt:lpstr>
      <vt:lpstr>Calibri</vt:lpstr>
      <vt:lpstr>Wingdings</vt:lpstr>
      <vt:lpstr>4_디자인 사용자 지정</vt:lpstr>
      <vt:lpstr>On-Device AI Hub를 위한 스마트 플러그 PoC 개발 보고 LG SW PM역량정의서 기반 프로젝트관리 실행사례 및  개선계획</vt:lpstr>
      <vt:lpstr>On-Device AI Hub를 위한 스마트 플러그 PoC 개발 </vt:lpstr>
      <vt:lpstr>프로젝트 관리 현황</vt:lpstr>
      <vt:lpstr>프로젝트 관리 현황</vt:lpstr>
      <vt:lpstr>프로젝트 관리 현황</vt:lpstr>
      <vt:lpstr>프로젝트 관리 현황</vt:lpstr>
      <vt:lpstr>프로젝트 관리 현황</vt:lpstr>
      <vt:lpstr>향후 계획</vt:lpstr>
      <vt:lpstr>향후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황인휘/책임연구원/HS/ES선행(연)Interactive Home Solution Task</dc:creator>
  <cp:lastModifiedBy>황인휘/책임연구원/HS/ES선행(연)Interactive Home Solution Task</cp:lastModifiedBy>
  <cp:revision>1</cp:revision>
  <dcterms:created xsi:type="dcterms:W3CDTF">2026-06-18T05:32:32Z</dcterms:created>
  <dcterms:modified xsi:type="dcterms:W3CDTF">2026-06-18T09:18:22Z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2026-06-18T09:17:04Z</vt:lpwstr>
  </property>
  <property fmtid="{D5CDD505-2E9C-101B-9397-08002B2CF9AE}" pid="4" name="MSIP_Label_cc6ed9fc-fefc-4a0c-a6d6-10cf236c0d4f_Method">
    <vt:lpwstr>Privileged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1581a6a4-d807-4001-8fb2-a4c30bf018df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4_디자인 사용자 지정:6</vt:lpwstr>
  </property>
  <property fmtid="{D5CDD505-2E9C-101B-9397-08002B2CF9AE}" pid="10" name="ClassificationContentMarkingHeaderText">
    <vt:lpwstr>LGE Internal Use Only</vt:lpwstr>
  </property>
</Properties>
</file>