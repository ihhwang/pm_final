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2D4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V1 (8/1, CR이전)</c:v>
                  </c:pt>
                  <c:pt idx="1">
                    <c:v>V2 (12/9, 종료)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V1 (8/1, CR이전)</c:v>
                  </c:pt>
                  <c:pt idx="1">
                    <c:v>V2 (12/9, 종료)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횟수</c:v>
                </c:pt>
              </c:strCache>
            </c:strRef>
          </c:tx>
          <c:spPr>
            <a:solidFill>
              <a:srgbClr val="2D4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주간 팀미팅</c:v>
                  </c:pt>
                  <c:pt idx="1">
                    <c:v>주간 랩보고</c:v>
                  </c:pt>
                  <c:pt idx="2">
                    <c:v>게이트 리뷰</c:v>
                  </c:pt>
                  <c:pt idx="3">
                    <c:v>수시 보고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시작 - 직함이 아닌 관리 기능 수행 여부로 PM 역량을 증빙한다는 핵심 프레임을 먼저 선언하세요.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CR-01/02 발생 후 기준선 재설정이 핵심 관리 활동이었음을 강조. 이후 슬라이드는 이 흐름의 각 관리 활동을 평가항목 기준으로 증빙합니다.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요구사항 44개 전수 추적, 승인 수령, CR 후 재승인까지 완료. 추적 체인 예시로 구체성 증빙.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 발생 시 영향도 분석 → 기준선 재설정 → 추적 매트릭스 갱신까지 즉각 조치. PM 1차 의견과 최종 결정의 차이를 솔직하게 제시하는 것이 자기인식 증빙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측정 → 판단 → 조치의 사이클이 체계적으로 작동했음을 수치로 보여주는 슬라이드. 미완료 3개 WBS가 시연 핵심 범위 외임을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소통 채널과 참석률 100%를 수치로 증빙. CR 발생 시 참여 전략 변경보다 버퍼 흡수 선택이 왜 더 합리적이었는지 논리적으로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4가지 종료 기준 모두 달성. WBS 미완료 3개는 고도화 항목으로 핵심 시연에 영향 없음을 강조. 교훈 11건 중 3가지 핵심만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자기인식 증빙의 핵심. 작동한 것은 수치 근거로, 한계는 원인까지 분석하여 단순 나열이 아님을 보여줘야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3가지 보완 계획 모두 심사위원 피드백에 직접 대응. 현재→향후 비교로 구체성 강조. 성장 가능성을 어필하는 핵심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슬라이드. 3가지 심사위원 설득 포인트를 자연스럽게 정리하고 Q&amp;A 준비 체계를 보여줌으로써 준비된 PM임을 어필.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Hub를 위한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플러그 PoC 개발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651760"/>
            <a:ext cx="7772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역량 인증 발표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황인휘  |  총 10장  |  15분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7772400" cy="685800"/>
          </a:xfrm>
          <a:prstGeom prst="roundRect">
            <a:avLst>
              <a:gd name="adj" fmla="val 8000"/>
            </a:avLst>
          </a:prstGeom>
          <a:solidFill>
            <a:srgbClr val="2D4DA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178808"/>
            <a:ext cx="75895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발표는 직함이 아니라 관리 기능 수행 여부로 PM 역량을 증빙합니다.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PL이 실제로 수행한 관리 활동을 LG SW PM 역량 기준에 연결하여 제시합니다.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과제는 이렇게 흘렀다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S2. 프로젝트 흐름 한 장 요약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solidFill>
            <a:srgbClr val="CADCFC"/>
          </a:solidFill>
          <a:ln w="6350">
            <a:solidFill>
              <a:srgbClr val="2D4D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2011680" cy="804672"/>
          </a:xfrm>
          <a:prstGeom prst="roundRect">
            <a:avLst>
              <a:gd name="adj" fmla="val 795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04672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Apr~May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804672"/>
            <a:ext cx="2011680" cy="804672"/>
          </a:xfrm>
          <a:prstGeom prst="roundRect">
            <a:avLst>
              <a:gd name="adj" fmla="val 7955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78608" y="804672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1~1-2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단계별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78608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Jun~Oct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6592" y="804672"/>
            <a:ext cx="2011680" cy="804672"/>
          </a:xfrm>
          <a:prstGeom prst="roundRect">
            <a:avLst>
              <a:gd name="adj" fmla="val 795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6592" y="804672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CR-01/02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 재설정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6592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 변경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03720" y="804672"/>
            <a:ext cx="2011680" cy="804672"/>
          </a:xfrm>
          <a:prstGeom prst="roundRect">
            <a:avLst>
              <a:gd name="adj" fmla="val 795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804672"/>
            <a:ext cx="20116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시연·종료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1353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Nov~Dec.10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1197864"/>
            <a:ext cx="566928" cy="0"/>
          </a:xfrm>
          <a:prstGeom prst="line">
            <a:avLst/>
          </a:prstGeom>
          <a:noFill/>
          <a:ln w="1905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90288" y="1197864"/>
            <a:ext cx="566928" cy="0"/>
          </a:xfrm>
          <a:prstGeom prst="line">
            <a:avLst/>
          </a:prstGeom>
          <a:noFill/>
          <a:ln w="1905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748272" y="1197864"/>
            <a:ext cx="566928" cy="0"/>
          </a:xfrm>
          <a:prstGeom prst="line">
            <a:avLst/>
          </a:prstGeom>
          <a:noFill/>
          <a:ln w="1905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65760" y="18745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전후 비교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76272"/>
          <a:ext cx="8412480" cy="256032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이전 (기준선 V1)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D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 이후 (기준선 V2)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64개 (+3)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종료일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12.01 (+14일 조정)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시연 범위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음성제어 1:1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음성제어+인터컴+멀티플러그 4:1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요구사항은 어떻게 정의하고 추적했는가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평가항목 ①②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977640" cy="402336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정합성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36576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89888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E8EFFD"/>
          </a:solidFill>
          <a:ln w="6350">
            <a:solidFill>
              <a:srgbClr val="2D4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847088"/>
            <a:ext cx="0" cy="201168"/>
          </a:xfrm>
          <a:prstGeom prst="line">
            <a:avLst/>
          </a:prstGeom>
          <a:noFill/>
          <a:ln w="1270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2048256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E8EFFD"/>
          </a:solidFill>
          <a:ln w="6350">
            <a:solidFill>
              <a:srgbClr val="2D4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482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 ID 부여)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2505456"/>
            <a:ext cx="0" cy="201168"/>
          </a:xfrm>
          <a:prstGeom prst="line">
            <a:avLst/>
          </a:prstGeom>
          <a:noFill/>
          <a:ln w="1270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" y="2706624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E8EFFD"/>
          </a:solidFill>
          <a:ln w="6350">
            <a:solidFill>
              <a:srgbClr val="2D4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0662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(P0/P1/P2)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3163824"/>
            <a:ext cx="0" cy="201168"/>
          </a:xfrm>
          <a:prstGeom prst="line">
            <a:avLst/>
          </a:prstGeom>
          <a:noFill/>
          <a:ln w="1270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3364992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649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승인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37033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4164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PLG_REQ 27개 + HUB_REQ 17개 = 총 44개 확정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TL(4/24) · iLab장(4/29) 공식 승인 → CR 후 재승인 완료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34840" y="822960"/>
            <a:ext cx="43891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추적성 체인 예시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243584"/>
            <a:ext cx="41148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389888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E8EFFD"/>
          </a:solidFill>
          <a:ln w="9525">
            <a:solidFill>
              <a:srgbClr val="2D4D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4081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PLG_REQ_013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1627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기동어 인식 결과 처리 (P0)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47688" y="1865376"/>
            <a:ext cx="0" cy="182880"/>
          </a:xfrm>
          <a:prstGeom prst="line">
            <a:avLst/>
          </a:prstGeom>
          <a:noFill/>
          <a:ln w="1270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17720" y="2048256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E8EFFD"/>
          </a:solidFill>
          <a:ln w="9525">
            <a:solidFill>
              <a:srgbClr val="2D4D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066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PLG_WBS_037/038/039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2286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기동어 후처리 루틴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47688" y="2523744"/>
            <a:ext cx="0" cy="182880"/>
          </a:xfrm>
          <a:prstGeom prst="line">
            <a:avLst/>
          </a:prstGeom>
          <a:noFill/>
          <a:ln w="1270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617720" y="2706624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E8EFFD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7249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검증 기준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29443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commit + 동작 확인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47688" y="3182112"/>
            <a:ext cx="0" cy="18288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617720" y="3364992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E8F5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38328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MS#4 기능 적합성 PASS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36027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승인 (9/30)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4041648"/>
            <a:ext cx="41148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04164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요구사항 47개 · 연결 WBS 65개 · 누락 0건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반영 후에도 전체 추적 유지 확인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변경이 발생했을 때 계획을 어떻게 유지했는가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평가항목 ③④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계획수립 근거 문서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36576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3716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확정서 (4.3)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5361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베이스라인 기반 수립, DoD 기준 명시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18745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 계획서 (7.1)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03911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Phase별 목표·산출물·승인 기준 사전 확정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 산출 내역서 (7.2)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5420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WBS별 연관도·기간 산정 근거 문서화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822960"/>
            <a:ext cx="4389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CR-01/02 수용 후 즉시 조치 (CCB 8/12)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243584"/>
            <a:ext cx="41148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371600"/>
            <a:ext cx="4114800" cy="329184"/>
          </a:xfrm>
          <a:prstGeom prst="roundRect">
            <a:avLst>
              <a:gd name="adj" fmla="val 11111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3716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 분석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범위·일정·성능·리스크 정량 분석 (6.1 §4)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764792"/>
            <a:ext cx="4114800" cy="329184"/>
          </a:xfrm>
          <a:prstGeom prst="roundRect">
            <a:avLst>
              <a:gd name="adj" fmla="val 11111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7647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기준선 재설정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61→64개, 종료일 +14일 조정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157984"/>
            <a:ext cx="4114800" cy="329184"/>
          </a:xfrm>
          <a:prstGeom prst="roundRect">
            <a:avLst>
              <a:gd name="adj" fmla="val 11111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15798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 동기화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기준선으로 진척·편차 추적 전환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51176"/>
            <a:ext cx="4114800" cy="329184"/>
          </a:xfrm>
          <a:prstGeom prst="roundRect">
            <a:avLst>
              <a:gd name="adj" fmla="val 11111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55117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매트릭스 갱신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신규 REQ → WBS 연결 반영 완료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017520"/>
            <a:ext cx="8503920" cy="594360"/>
          </a:xfrm>
          <a:prstGeom prst="roundRect">
            <a:avLst>
              <a:gd name="adj" fmla="val 9231"/>
            </a:avLst>
          </a:prstGeom>
          <a:solidFill>
            <a:srgbClr val="FFF8E1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35808"/>
            <a:ext cx="83210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PM 1차 의견은 불수용이었으나, 조직 비즈니스 목표 판단에 따라 수용으로 결정. 결정 근거와 영향도를 6.1에 문서화하고 후속 관리 체계를 즉시 재편.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편차 분석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20040" y="4023360"/>
          <a:ext cx="85039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수치가 판단으로, 판단이 조치로 이어졌는가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평가항목 ⑤⑥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구현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완료율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(다중 플러그 90%)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229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결함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(A·B급)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16276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C급 2건 Closed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2697480" cy="1051560"/>
          </a:xfrm>
          <a:prstGeom prst="roundRect">
            <a:avLst>
              <a:gd name="adj" fmla="val 782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8229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일정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준수율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0" y="16276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KPI 달성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965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기반 판단 및 조치 흐름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86000"/>
          <a:ext cx="850392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2011680"/>
                <a:gridCol w="1920240"/>
                <a:gridCol w="14630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판단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 구현 완료율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4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미달 5%는 시연 핵심 外 → 시연 가능 판단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미완료 항목 시연 범위 外 분류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시연 100% 완료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결함 건수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4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C급 2건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4D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A·B급 0건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허용 범위 내, 시연 영향 없음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C급 2건 Closed 처리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A·B급 0건 유지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시연 일정 준수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KPI 95% → 정상 종료 결정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보고 및 이해관계자 승인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종료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이해관계자를 어떻게 관리했고, 한계에서 무엇을 선택했는가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평가항목 ⑦⑧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활동 요약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36576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657600" cy="493776"/>
          </a:xfrm>
          <a:prstGeom prst="roundRect">
            <a:avLst>
              <a:gd name="adj" fmla="val 7407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팀미팅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TL, 개발팀  |  31회 / 참석률 100%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3657600" cy="493776"/>
          </a:xfrm>
          <a:prstGeom prst="roundRect">
            <a:avLst>
              <a:gd name="adj" fmla="val 7407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랩보고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18541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iLab장, TL, 기획  |  28회 / 참석률 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3657600" cy="493776"/>
          </a:xfrm>
          <a:prstGeom prst="roundRect">
            <a:avLst>
              <a:gd name="adj" fmla="val 7407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328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 리뷰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7523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이해관계자  |  3회 진행 (최소 2회)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3657600" cy="493776"/>
          </a:xfrm>
          <a:prstGeom prst="roundRect">
            <a:avLst>
              <a:gd name="adj" fmla="val 7407"/>
            </a:avLst>
          </a:prstGeom>
          <a:solidFill>
            <a:srgbClr val="E8EFFD"/>
          </a:solidFill>
          <a:ln w="5080">
            <a:solidFill>
              <a:srgbClr val="2D4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98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수시 보고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192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iLab장, TL  |  2회 (시연 시나리오 확정)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822960"/>
            <a:ext cx="4389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발생과 전략 판단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243584"/>
            <a:ext cx="41148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1325880"/>
            <a:ext cx="4114800" cy="411480"/>
          </a:xfrm>
          <a:prstGeom prst="roundRect">
            <a:avLst>
              <a:gd name="adj" fmla="val 8889"/>
            </a:avLst>
          </a:prstGeom>
          <a:solidFill>
            <a:srgbClr val="FFF3C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335024"/>
            <a:ext cx="40233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CR-01/02: 정기 채널 외 경로(iLab장 직접 지시)로 발생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참여 전략만으로는 구조적 차단 불가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772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검토한 대응 옵션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148840"/>
            <a:ext cx="4114800" cy="475488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508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1671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참여 채널·빈도 조정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09160" y="23500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효용 없음 판단 및 폐기 — 최상위 이해관계자 권한 행사를 채널 조정으로 차단 불가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2697480"/>
            <a:ext cx="4114800" cy="548640"/>
          </a:xfrm>
          <a:prstGeom prst="roundRect">
            <a:avLst>
              <a:gd name="adj" fmla="val 6667"/>
            </a:avLst>
          </a:prstGeom>
          <a:solidFill>
            <a:srgbClr val="E8F5F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7157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선택: 일정·자원 버퍼 흡수 대응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28986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이전 3개 WBS 선행 완료로 대응 여력 확보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인력 없이 기존 4인으로 대응 완료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703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소통 실적</a:t>
            </a:r>
            <a:endParaRPr lang="en-US" sz="10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320040" y="3959352"/>
          <a:ext cx="3977640" cy="960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기준으로 종료를 선언했고, 무엇을 배웠는가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평가항목 ⑨⑩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판단 근거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36576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89888"/>
            <a:ext cx="3657600" cy="566928"/>
          </a:xfrm>
          <a:prstGeom prst="rect">
            <a:avLst/>
          </a:prstGeom>
          <a:solidFill>
            <a:srgbClr val="E8EF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264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시연 시나리오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60934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음성제어·인터컴·멀티플러그 4:1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54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달성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36576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665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완료율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2494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100%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51760" y="219456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194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95.3% (미완 3개: 고도화)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670048"/>
            <a:ext cx="3657600" cy="566928"/>
          </a:xfrm>
          <a:prstGeom prst="rect">
            <a:avLst/>
          </a:prstGeom>
          <a:solidFill>
            <a:srgbClr val="E8EF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066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A·B급 결함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88950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0건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2834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0건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365760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467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 승인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5295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iLab장 승인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51760" y="34747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3474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완료 (11/30)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기준서(1.4) §2.4 인수 체크리스트 — iLab장 최종 승인 ✅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34840" y="8229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교훈 (Lessons Learned)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1243584"/>
            <a:ext cx="41148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389888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E8EFFD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46304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463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LL_01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76672" y="146304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1F5FD"/>
          </a:solidFill>
          <a:ln w="6350">
            <a:solidFill>
              <a:srgbClr val="2D4D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76672" y="14630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4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17556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변동성 높은 과제는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Agile/Hybrid가 적합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7720" y="2212848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E8EFF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28600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2860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LL_05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76672" y="228600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1F5FD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76672" y="22860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63440" y="25786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후 신규 WBS 세분화 원칙을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PM이 리더십으로 관철해야 함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17720" y="3035808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E8EFFD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10896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108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LL_11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76672" y="31089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1F5FD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31089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이해관계자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63440" y="34015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최상위 이해관계자 변경 리스크는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조정이 아닌 버퍼로 흡수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PM 없이 — 무엇이 작동했고 무엇이 작동하지 않았는가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6052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작동한 것 — 수치 근거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886200" cy="594360"/>
          </a:xfrm>
          <a:prstGeom prst="rect">
            <a:avLst/>
          </a:prstGeom>
          <a:solidFill>
            <a:srgbClr val="F0FBF4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350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정의 및 승인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5270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44개 요구사항, 이해관계자 공식 승인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499616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996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베이스라인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3886200" cy="594360"/>
          </a:xfrm>
          <a:prstGeom prst="rect">
            <a:avLst/>
          </a:prstGeom>
          <a:solidFill>
            <a:srgbClr val="F0FBF4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08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영향도 분석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212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발생 시 정량 분석 + CCB 수행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2185416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1854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§4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2670048"/>
            <a:ext cx="3886200" cy="594360"/>
          </a:xfrm>
          <a:prstGeom prst="rect">
            <a:avLst/>
          </a:prstGeom>
          <a:solidFill>
            <a:srgbClr val="F0FBF4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066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→ 이슈 전환 관리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28986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7건 전수 추적, 전원 Closed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2871216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8712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/ 9.4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3886200" cy="594360"/>
          </a:xfrm>
          <a:prstGeom prst="rect">
            <a:avLst/>
          </a:prstGeom>
          <a:solidFill>
            <a:srgbClr val="F0FBF4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92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검증 및 승인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5844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7차 마일스톤 평가, 전 단계 PASS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3557016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5570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7200" y="4041648"/>
            <a:ext cx="3886200" cy="594360"/>
          </a:xfrm>
          <a:prstGeom prst="rect">
            <a:avLst/>
          </a:prstGeom>
          <a:solidFill>
            <a:srgbClr val="F0FBF4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78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교훈 도출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270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11건 문서화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4242816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424281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804672"/>
            <a:ext cx="4160520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804672"/>
            <a:ext cx="416052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80467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 한계가 있었던 것 — 원인까지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1298448"/>
            <a:ext cx="3886200" cy="658368"/>
          </a:xfrm>
          <a:prstGeom prst="rect">
            <a:avLst/>
          </a:prstGeom>
          <a:solidFill>
            <a:srgbClr val="FFFD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33502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체계 시각화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15270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현상: 매트릭스는 있으나 한눈에 파악 어려움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1709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도구 부재 (JIRA 등 미사용)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00600" y="2057400"/>
            <a:ext cx="3886200" cy="658368"/>
          </a:xfrm>
          <a:prstGeom prst="rect">
            <a:avLst/>
          </a:prstGeom>
          <a:solidFill>
            <a:srgbClr val="FFFD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0939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임계치 사전 명문화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2286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현상: 판단은 했으나 기준이 문서화 안 됨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92040" y="2468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PM 역할 부재로 관리 체계 설계 생략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00600" y="2816352"/>
            <a:ext cx="3886200" cy="658368"/>
          </a:xfrm>
          <a:prstGeom prst="rect">
            <a:avLst/>
          </a:prstGeom>
          <a:solidFill>
            <a:srgbClr val="FFFD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8529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변경통제 사전 차단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92040" y="30449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현상: CCB 수행했으나 절차 외 요청 발생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92040" y="32278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최상위 이해관계자 권한 구조적 한계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00600" y="3575304"/>
            <a:ext cx="3886200" cy="658368"/>
          </a:xfrm>
          <a:prstGeom prst="rect">
            <a:avLst/>
          </a:prstGeom>
          <a:solidFill>
            <a:srgbClr val="FFFD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611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배포 체계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92040" y="38039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현상: 공유는 됐으나 배포 주기·권한 미문서화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92040" y="39867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형식적 소통 계획 수립 부재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시작한다면 PM으로서 이렇게 하겠습니다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2D4DA8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326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950976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95097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심사위원1·2 코멘트 직접 대응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" y="1225296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임계치 + 판단 기준 초기 명문화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" y="1572768"/>
            <a:ext cx="4114800" cy="411480"/>
          </a:xfrm>
          <a:prstGeom prst="rect">
            <a:avLst/>
          </a:prstGeom>
          <a:solidFill>
            <a:srgbClr val="FEF2F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727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판단은 했으나 기준이 사후에만 설명 가능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44568" y="1773936"/>
            <a:ext cx="201168" cy="0"/>
          </a:xfrm>
          <a:prstGeom prst="line">
            <a:avLst/>
          </a:prstGeom>
          <a:noFill/>
          <a:ln w="1905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45736" y="1572768"/>
            <a:ext cx="3995928" cy="411480"/>
          </a:xfrm>
          <a:prstGeom prst="rect">
            <a:avLst/>
          </a:prstGeom>
          <a:solidFill>
            <a:srgbClr val="E8F5F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5727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착수 시 KPI별 임계치·판단 규칙·조치 책임자를 단일 표로 확정. 측정 주기와 보고 트리거를 관리 계획서에 포함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212848"/>
            <a:ext cx="8503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23225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322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2340864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34086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심사위원3 코멘트 직접 대응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0120" y="2615184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→ WBS → 검증 추적 체계 시각화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" y="2962656"/>
            <a:ext cx="4114800" cy="411480"/>
          </a:xfrm>
          <a:prstGeom prst="rect">
            <a:avLst/>
          </a:prstGeom>
          <a:solidFill>
            <a:srgbClr val="FEF2F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6265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표는 있으나 상태 파악에 문서 탐색 필요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44568" y="3163824"/>
            <a:ext cx="201168" cy="0"/>
          </a:xfrm>
          <a:prstGeom prst="line">
            <a:avLst/>
          </a:prstGeom>
          <a:noFill/>
          <a:ln w="1905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45736" y="2962656"/>
            <a:ext cx="3995928" cy="411480"/>
          </a:xfrm>
          <a:prstGeom prst="rect">
            <a:avLst/>
          </a:prstGeom>
          <a:solidFill>
            <a:srgbClr val="E8F5F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9626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추적 매트릭스에 상태값 컬럼 추가. 대시보드에서 요구사항별 현재 상태를 한 화면에서 확인 가능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602736"/>
            <a:ext cx="85039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" y="37124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120" y="3730752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7307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공통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" y="4005072"/>
            <a:ext cx="7726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단계에서 변경 리스크 버퍼 명시적 반영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" y="4352544"/>
            <a:ext cx="4114800" cy="411480"/>
          </a:xfrm>
          <a:prstGeom prst="rect">
            <a:avLst/>
          </a:prstGeom>
          <a:solidFill>
            <a:srgbClr val="FEF2F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5254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우연히 선행 완료로 대응 여력 확보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44568" y="4553712"/>
            <a:ext cx="201168" cy="0"/>
          </a:xfrm>
          <a:prstGeom prst="line">
            <a:avLst/>
          </a:prstGeom>
          <a:noFill/>
          <a:ln w="19050">
            <a:solidFill>
              <a:srgbClr val="2D4DA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45736" y="4352544"/>
            <a:ext cx="3995928" cy="411480"/>
          </a:xfrm>
          <a:prstGeom prst="rect">
            <a:avLst/>
          </a:prstGeom>
          <a:solidFill>
            <a:srgbClr val="E8F5F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435254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최상위 이해관계자 변경 요청 가능성을 리스크로 사전 등록. 일정·자원에 명시적 버퍼(전체 일정 10~15%) 확보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57200" cy="5070348"/>
          </a:xfrm>
          <a:prstGeom prst="rect">
            <a:avLst/>
          </a:prstGeom>
          <a:solidFill>
            <a:srgbClr val="2D4DA8"/>
          </a:solidFill>
          <a:ln w="12700">
            <a:solidFill>
              <a:srgbClr val="2D4D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57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005840"/>
            <a:ext cx="777240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7772400" cy="1234440"/>
          </a:xfrm>
          <a:prstGeom prst="roundRect">
            <a:avLst>
              <a:gd name="adj" fmla="val 5926"/>
            </a:avLst>
          </a:prstGeom>
          <a:solidFill>
            <a:srgbClr val="2D4DA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70432"/>
            <a:ext cx="7498080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PM 없이도 핵심 관리 기능은 수행되었고, 일부는 수치로 입증 가능합니다.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부족한 부분은 이미 식별했고, 재시작 시 무엇을 바꿀지까지 구체화했습니다.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42032"/>
            <a:ext cx="2423160" cy="896112"/>
          </a:xfrm>
          <a:prstGeom prst="roundRect">
            <a:avLst>
              <a:gd name="adj" fmla="val 7143"/>
            </a:avLst>
          </a:prstGeom>
          <a:solidFill>
            <a:srgbClr val="2D4DA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 인식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035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약점을 회피하지 않고 직시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2542032"/>
            <a:ext cx="2423160" cy="896112"/>
          </a:xfrm>
          <a:prstGeom prst="roundRect">
            <a:avLst>
              <a:gd name="adj" fmla="val 7143"/>
            </a:avLst>
          </a:prstGeom>
          <a:solidFill>
            <a:srgbClr val="2D4DA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능력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035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 방향이 구체적이고 실행 가능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2542032"/>
            <a:ext cx="2423160" cy="896112"/>
          </a:xfrm>
          <a:prstGeom prst="roundRect">
            <a:avLst>
              <a:gd name="adj" fmla="val 7143"/>
            </a:avLst>
          </a:prstGeom>
          <a:solidFill>
            <a:srgbClr val="2D4DA8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9320" y="283464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 역량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0358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장단점이 고르게 분포된 PM 프로파일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질문 주시면 아래 순서로 근거를 바로 보여드리겠습니다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931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REQ → WBS → 검증 추적 체인 (4.2 / 4.3 / 5.3)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 전후 영향도 분석 및 기준선 변경 (6.1 / 7.5)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KPI 판단 근거 및 종료 승인 (1.5 / 1.4)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AI Hub를 위한 스마트 플러그 PoC 개발 - PM 역량 인증 발표</dc:title>
  <dc:subject>PptxGenJS Presentation</dc:subject>
  <dc:creator>황인휘</dc:creator>
  <cp:lastModifiedBy>황인휘</cp:lastModifiedBy>
  <cp:revision>1</cp:revision>
  <dcterms:created xsi:type="dcterms:W3CDTF">2026-06-16T09:12:29Z</dcterms:created>
  <dcterms:modified xsi:type="dcterms:W3CDTF">2026-06-16T09:12:29Z</dcterms:modified>
</cp:coreProperties>
</file>